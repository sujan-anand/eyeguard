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t matters" id="{881e29c2-2a88-8b1c-a3f0-da56b8c4a932}">
          <p14:sldIdLst>
            <p14:sldId id="256"/>
            <p14:sldId id="257"/>
            <p14:sldId id="258"/>
            <p14:sldId id="259"/>
          </p14:sldIdLst>
        </p14:section>
        <p14:section name="How EyeGuard works" id="{1e4e10c7-71be-d317-0bee-51367eea6d21}">
          <p14:sldIdLst>
            <p14:sldId id="260"/>
            <p14:sldId id="261"/>
            <p14:sldId id="262"/>
            <p14:sldId id="263"/>
            <p14:sldId id="264"/>
            <p14:sldId id="265"/>
            <p14:sldId id="266"/>
          </p14:sldIdLst>
        </p14:section>
        <p14:section name="Demo and next steps" id="{e80f2227-2473-28eb-dec2-b84d8fd49122}">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one-line pitch: EyeGuard uses only a webcam and Python to catch eye strain before it builds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judges how many hours they spent on a screen today. Most strain is invisible until it hurts: we blink less and lean in without noticing.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insight EyeGuard measures. Blink rate commonly drops sharply during screen use. Check and cite your source for these figures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SDG 3 target 3.4 (prevention and well-being). Secondary: SDG 4, because students who are comfortable study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pitch in one sentence. Stress the three points: no new hardware, no cost, and the video stays private because nothing is uploaded.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left to right. Everything runs locally on the laptop; no video is saved or uploaded, only numbers are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checks run on every frame. The strain score combines them into one number students can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for questions here. EAR: vertical eye distances divided by horizontal. Distance uses the pinhole camera model with the iris as a known-size ruler.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glasses act like a lens between the eye and the camera. At -7 D the eye looks about 10 percent smaller. EyeGuard applies the lens formula automatically, and calibration while wearing the glasses makes it exact. Astigmatism is ignored. EyeGuard cannot measure or diagnose eye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mode is for real study sessions: no big video window, just corner notifications and a small mini window. The verified break and the CSV log still work, so the website dashboard shows the session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website has six pages. Live Check depends on the network; if campus Wi-Fi blocks it, the desktop app is the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laptop and run: py eyeguard.py --demo. Press c at arm's length to calibrate first. Turn sound on with m so judges hear the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verified break is the unique part: if you keep staring at the screen during the break, the 20-second timer pauses until you really look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website plan, then read the AI disclosure plainly. Edit the wording so it matches exactly what your team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habits. Replace the white box with a QR code for the website once it is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Ligh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rtlCol="0"/>
          <a:lstStyle>
            <a:lvl1pPr indent="0" marL="0">
              <a:buNone/>
              <a:defRPr lang="en-US" sz="1400" b="1" spc="200" kern="0" dirty="0">
                <a:solidFill>
                  <a:schemeClr val="accent6"/>
                </a:solidFill>
              </a:defRPr>
            </a:lvl1pPr>
          </a:lstStyle>
          <a:p>
            <a:pPr indent="0" marL="0">
              <a:buNone/>
            </a:pP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rtlCol="0"/>
          <a:lstStyle>
            <a:lvl1pPr algn="l" indent="0" marL="0">
              <a:buNone/>
              <a:defRPr lang="en-US" sz="3600" b="1" dirty="0">
                <a:solidFill>
                  <a:schemeClr val="tx2"/>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4"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1100" dirty="0">
                <a:solidFill>
                  <a:schemeClr val="accent5"/>
                </a:solidFill>
              </a:rPr>
              <a:t>EyeGuard · PySustain-2026</a:t>
            </a:r>
            <a:endParaRPr lang="en-US" sz="11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rtlCol="0"/>
          <a:lstStyle>
            <a:lvl1pPr indent="0" marL="0">
              <a:buNone/>
              <a:defRPr lang="en-US" sz="1400" b="1" spc="2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rtlCol="0"/>
          <a:lstStyle>
            <a:lvl1pPr algn="l" indent="0" marL="0">
              <a:buNone/>
              <a:defRPr lang="en-US" sz="3600" b="1" dirty="0">
                <a:solidFill>
                  <a:schemeClr val="bg1"/>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 outer"/>
          <p:cNvSpPr/>
          <p:nvPr/>
        </p:nvSpPr>
        <p:spPr>
          <a:xfrm>
            <a:off x="8412480" y="1188720"/>
            <a:ext cx="3291840" cy="3291840"/>
          </a:xfrm>
          <a:prstGeom prst="ellipse">
            <a:avLst/>
          </a:prstGeom>
          <a:solidFill>
            <a:schemeClr val="accent2"/>
          </a:solidFill>
          <a:ln/>
        </p:spPr>
      </p:sp>
      <p:sp>
        <p:nvSpPr>
          <p:cNvPr id="3" name="eye iris ring"/>
          <p:cNvSpPr/>
          <p:nvPr/>
        </p:nvSpPr>
        <p:spPr>
          <a:xfrm>
            <a:off x="9235440" y="2011680"/>
            <a:ext cx="1645920" cy="1645920"/>
          </a:xfrm>
          <a:prstGeom prst="ellipse">
            <a:avLst/>
          </a:prstGeom>
          <a:solidFill>
            <a:schemeClr val="tx2"/>
          </a:solidFill>
          <a:ln/>
        </p:spPr>
      </p:sp>
      <p:sp>
        <p:nvSpPr>
          <p:cNvPr id="4" name="eye pupil"/>
          <p:cNvSpPr/>
          <p:nvPr/>
        </p:nvSpPr>
        <p:spPr>
          <a:xfrm>
            <a:off x="9646920" y="2423160"/>
            <a:ext cx="822960" cy="822960"/>
          </a:xfrm>
          <a:prstGeom prst="ellipse">
            <a:avLst/>
          </a:prstGeom>
          <a:solidFill>
            <a:schemeClr val="accent1"/>
          </a:solidFill>
          <a:ln/>
        </p:spPr>
      </p:sp>
      <p:sp>
        <p:nvSpPr>
          <p:cNvPr id="5" name="Text 3"/>
          <p:cNvSpPr txBox="1"/>
          <p:nvPr/>
        </p:nvSpPr>
        <p:spPr>
          <a:xfrm>
            <a:off x="640080" y="640080"/>
            <a:ext cx="8229600" cy="365760"/>
          </a:xfrm>
          <a:prstGeom prst="rect">
            <a:avLst/>
          </a:prstGeom>
          <a:noFill/>
          <a:ln/>
        </p:spPr>
        <p:txBody>
          <a:bodyPr wrap="square" lIns="0" tIns="0" rIns="0" bIns="0" rtlCol="0" anchor="ctr"/>
          <a:lstStyle/>
          <a:p>
            <a:pPr indent="0" marL="0">
              <a:buNone/>
            </a:pPr>
            <a:r>
              <a:rPr lang="en-US" sz="1600" b="1" spc="300" kern="0" dirty="0">
                <a:solidFill>
                  <a:schemeClr val="accent1"/>
                </a:solidFill>
              </a:rPr>
              <a:t>PYSUSTAIN-2026 · TRACK 1: CODE TO CURE</a:t>
            </a:r>
            <a:endParaRPr lang="en-US" sz="1600" dirty="0"/>
          </a:p>
        </p:txBody>
      </p:sp>
      <p:sp>
        <p:nvSpPr>
          <p:cNvPr id="6" name="Text 4"/>
          <p:cNvSpPr txBox="1"/>
          <p:nvPr/>
        </p:nvSpPr>
        <p:spPr>
          <a:xfrm>
            <a:off x="640080" y="1828800"/>
            <a:ext cx="7315200" cy="1280160"/>
          </a:xfrm>
          <a:prstGeom prst="rect">
            <a:avLst/>
          </a:prstGeom>
          <a:noFill/>
          <a:ln/>
        </p:spPr>
        <p:txBody>
          <a:bodyPr wrap="square" lIns="0" tIns="0" rIns="0" bIns="0" rtlCol="0" anchor="ctr"/>
          <a:lstStyle/>
          <a:p>
            <a:pPr indent="0" marL="0">
              <a:buNone/>
            </a:pPr>
            <a:r>
              <a:rPr lang="en-US" sz="8000" b="1" dirty="0">
                <a:solidFill>
                  <a:schemeClr val="bg1"/>
                </a:solidFill>
                <a:latin typeface="Arial" pitchFamily="34" charset="0"/>
                <a:ea typeface="Arial" pitchFamily="34" charset="-122"/>
                <a:cs typeface="Arial" pitchFamily="34" charset="-120"/>
              </a:rPr>
              <a:t>EyeGuard</a:t>
            </a:r>
            <a:endParaRPr lang="en-US" sz="8000" dirty="0"/>
          </a:p>
        </p:txBody>
      </p:sp>
      <p:sp>
        <p:nvSpPr>
          <p:cNvPr id="7" name="Text 5"/>
          <p:cNvSpPr txBox="1"/>
          <p:nvPr/>
        </p:nvSpPr>
        <p:spPr>
          <a:xfrm>
            <a:off x="640080" y="3200400"/>
            <a:ext cx="6949440" cy="1005840"/>
          </a:xfrm>
          <a:prstGeom prst="rect">
            <a:avLst/>
          </a:prstGeom>
          <a:noFill/>
          <a:ln/>
        </p:spPr>
        <p:txBody>
          <a:bodyPr wrap="square" lIns="0" tIns="0" rIns="0" bIns="0" rtlCol="0" anchor="t"/>
          <a:lstStyle/>
          <a:p>
            <a:pPr indent="0" marL="0">
              <a:buNone/>
            </a:pPr>
            <a:r>
              <a:rPr lang="en-US" sz="2200" dirty="0">
                <a:solidFill>
                  <a:schemeClr val="accent3"/>
                </a:solidFill>
              </a:rPr>
              <a:t>A webcam-powered eye strain monitor that tells students when to blink, sit back and rest.</a:t>
            </a:r>
            <a:endParaRPr lang="en-US" sz="2200" dirty="0"/>
          </a:p>
        </p:txBody>
      </p:sp>
      <p:sp>
        <p:nvSpPr>
          <p:cNvPr id="8" name="Text 6"/>
          <p:cNvSpPr txBox="1"/>
          <p:nvPr/>
        </p:nvSpPr>
        <p:spPr>
          <a:xfrm>
            <a:off x="640080" y="5760720"/>
            <a:ext cx="7772400" cy="365760"/>
          </a:xfrm>
          <a:prstGeom prst="rect">
            <a:avLst/>
          </a:prstGeom>
          <a:noFill/>
          <a:ln/>
        </p:spPr>
        <p:txBody>
          <a:bodyPr wrap="square" lIns="0" tIns="0" rIns="0" bIns="0" rtlCol="0" anchor="ctr"/>
          <a:lstStyle/>
          <a:p>
            <a:pPr indent="0" marL="0">
              <a:buNone/>
            </a:pPr>
            <a:r>
              <a:rPr lang="en-US" sz="1500" dirty="0">
                <a:solidFill>
                  <a:schemeClr val="accent3"/>
                </a:solidFill>
              </a:rPr>
              <a:t>Team Dark Fantasy · Sujan Anand, Dhayanithi S V, Padhmesh N, Akshaith P</a:t>
            </a:r>
            <a:endParaRPr lang="en-US" sz="1500" dirty="0"/>
          </a:p>
        </p:txBody>
      </p:sp>
      <p:sp>
        <p:nvSpPr>
          <p:cNvPr id="9" name="SDG pill"/>
          <p:cNvSpPr/>
          <p:nvPr/>
        </p:nvSpPr>
        <p:spPr>
          <a:xfrm>
            <a:off x="8778240" y="5715000"/>
            <a:ext cx="1280160" cy="457200"/>
          </a:xfrm>
          <a:prstGeom prst="roundRect">
            <a:avLst>
              <a:gd name="adj" fmla="val 50000"/>
            </a:avLst>
          </a:prstGeom>
          <a:solidFill>
            <a:schemeClr val="accent1"/>
          </a:solidFill>
          <a:ln/>
        </p:spPr>
      </p:sp>
      <p:sp>
        <p:nvSpPr>
          <p:cNvPr id="10" name="Text 8"/>
          <p:cNvSpPr txBox="1"/>
          <p:nvPr/>
        </p:nvSpPr>
        <p:spPr>
          <a:xfrm>
            <a:off x="8778240" y="5715000"/>
            <a:ext cx="1280160" cy="457200"/>
          </a:xfrm>
          <a:prstGeom prst="rect">
            <a:avLst/>
          </a:prstGeom>
          <a:noFill/>
          <a:ln/>
        </p:spPr>
        <p:txBody>
          <a:bodyPr wrap="square" lIns="0" tIns="0" rIns="0" bIns="0" rtlCol="0" anchor="ctr"/>
          <a:lstStyle/>
          <a:p>
            <a:pPr algn="ctr" indent="0" marL="0">
              <a:buNone/>
            </a:pPr>
            <a:r>
              <a:rPr lang="en-US" sz="1500" b="1" dirty="0">
                <a:solidFill>
                  <a:schemeClr val="tx2"/>
                </a:solidFill>
              </a:rPr>
              <a:t>SDG 3.4</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lIns="0" tIns="0" rIns="0" bIns="0" rtlCol="0"/>
          <a:lstStyle/>
          <a:p>
            <a:pPr indent="0" marL="0">
              <a:buNone/>
            </a:pPr>
            <a:r>
              <a:rPr lang="en-US" sz="1400" b="1" spc="200" kern="0" dirty="0">
                <a:solidFill>
                  <a:schemeClr val="accent6"/>
                </a:solidFill>
              </a:rPr>
              <a:t>THE PROBLEM</a:t>
            </a: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lIns="0" tIns="0" rIns="0" bIns="0" rtlCol="0" anchor="t"/>
          <a:lstStyle/>
          <a:p>
            <a:pPr algn="l" indent="0" marL="0">
              <a:buNone/>
            </a:pPr>
            <a:r>
              <a:rPr lang="en-US" sz="3600" b="1" dirty="0">
                <a:solidFill>
                  <a:schemeClr val="tx2"/>
                </a:solidFill>
                <a:latin typeface="Arial" pitchFamily="34" charset="0"/>
                <a:ea typeface="Arial" pitchFamily="34" charset="-122"/>
                <a:cs typeface="Arial" pitchFamily="34" charset="-120"/>
              </a:rPr>
              <a:t>Students live on screens, and their eyes pay for it</a:t>
            </a:r>
            <a:endParaRPr lang="en-US" sz="3600" dirty="0"/>
          </a:p>
        </p:txBody>
      </p:sp>
      <p:sp>
        <p:nvSpPr>
          <p:cNvPr id="4" name="card Hours of screen time"/>
          <p:cNvSpPr/>
          <p:nvPr/>
        </p:nvSpPr>
        <p:spPr>
          <a:xfrm>
            <a:off x="640080" y="2194560"/>
            <a:ext cx="3456432" cy="2834640"/>
          </a:xfrm>
          <a:prstGeom prst="roundRect">
            <a:avLst>
              <a:gd name="adj" fmla="val 4839"/>
            </a:avLst>
          </a:prstGeom>
          <a:solidFill>
            <a:schemeClr val="bg1"/>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960120" y="2514600"/>
            <a:ext cx="502920" cy="502920"/>
          </a:xfrm>
          <a:prstGeom prst="rect">
            <a:avLst/>
          </a:prstGeom>
        </p:spPr>
      </p:pic>
      <p:sp>
        <p:nvSpPr>
          <p:cNvPr id="6" name="Text 3"/>
          <p:cNvSpPr txBox="1"/>
          <p:nvPr/>
        </p:nvSpPr>
        <p:spPr>
          <a:xfrm>
            <a:off x="960120" y="3246120"/>
            <a:ext cx="281635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Hours of screen time</a:t>
            </a:r>
            <a:endParaRPr lang="en-US" sz="2000" dirty="0"/>
          </a:p>
        </p:txBody>
      </p:sp>
      <p:sp>
        <p:nvSpPr>
          <p:cNvPr id="7" name="Text 4"/>
          <p:cNvSpPr txBox="1"/>
          <p:nvPr/>
        </p:nvSpPr>
        <p:spPr>
          <a:xfrm>
            <a:off x="960120" y="3794760"/>
            <a:ext cx="2816352" cy="1737360"/>
          </a:xfrm>
          <a:prstGeom prst="rect">
            <a:avLst/>
          </a:prstGeom>
          <a:noFill/>
          <a:ln/>
        </p:spPr>
        <p:txBody>
          <a:bodyPr wrap="square" lIns="0" tIns="0" rIns="0" bIns="0" rtlCol="0" anchor="t"/>
          <a:lstStyle/>
          <a:p>
            <a:pPr indent="0" marL="0">
              <a:buNone/>
            </a:pPr>
            <a:r>
              <a:rPr lang="en-US" sz="1500" dirty="0">
                <a:solidFill>
                  <a:schemeClr val="accent5"/>
                </a:solidFill>
              </a:rPr>
              <a:t>Online classes, assignments, coding and entertainment keep students in front of screens most of the day.</a:t>
            </a:r>
            <a:endParaRPr lang="en-US" sz="1500" dirty="0"/>
          </a:p>
        </p:txBody>
      </p:sp>
      <p:sp>
        <p:nvSpPr>
          <p:cNvPr id="8" name="card Strain you don't notice"/>
          <p:cNvSpPr/>
          <p:nvPr/>
        </p:nvSpPr>
        <p:spPr>
          <a:xfrm>
            <a:off x="4370832" y="2194560"/>
            <a:ext cx="3456432" cy="2834640"/>
          </a:xfrm>
          <a:prstGeom prst="roundRect">
            <a:avLst>
              <a:gd name="adj" fmla="val 4839"/>
            </a:avLst>
          </a:prstGeom>
          <a:solidFill>
            <a:schemeClr val="bg1"/>
          </a:solidFill>
          <a:ln w="12700">
            <a:solidFill>
              <a:schemeClr val="accent3"/>
            </a:solidFill>
            <a:prstDash val="solid"/>
          </a:ln>
        </p:spPr>
      </p:sp>
      <p:pic>
        <p:nvPicPr>
          <p:cNvPr id="9" name="Image 1" descr="preencoded.png">    </p:cNvPr>
          <p:cNvPicPr>
            <a:picLocks noChangeAspect="1"/>
          </p:cNvPicPr>
          <p:nvPr/>
        </p:nvPicPr>
        <p:blipFill>
          <a:blip r:embed="rId2"/>
          <a:stretch>
            <a:fillRect/>
          </a:stretch>
        </p:blipFill>
        <p:spPr>
          <a:xfrm>
            <a:off x="4690872" y="2514600"/>
            <a:ext cx="502920" cy="502920"/>
          </a:xfrm>
          <a:prstGeom prst="rect">
            <a:avLst/>
          </a:prstGeom>
        </p:spPr>
      </p:pic>
      <p:sp>
        <p:nvSpPr>
          <p:cNvPr id="10" name="Text 6"/>
          <p:cNvSpPr txBox="1"/>
          <p:nvPr/>
        </p:nvSpPr>
        <p:spPr>
          <a:xfrm>
            <a:off x="4690872" y="3246120"/>
            <a:ext cx="281635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Strain you don't notice</a:t>
            </a:r>
            <a:endParaRPr lang="en-US" sz="2000" dirty="0"/>
          </a:p>
        </p:txBody>
      </p:sp>
      <p:sp>
        <p:nvSpPr>
          <p:cNvPr id="11" name="Text 7"/>
          <p:cNvSpPr txBox="1"/>
          <p:nvPr/>
        </p:nvSpPr>
        <p:spPr>
          <a:xfrm>
            <a:off x="4690872" y="3794760"/>
            <a:ext cx="2816352" cy="1737360"/>
          </a:xfrm>
          <a:prstGeom prst="rect">
            <a:avLst/>
          </a:prstGeom>
          <a:noFill/>
          <a:ln/>
        </p:spPr>
        <p:txBody>
          <a:bodyPr wrap="square" lIns="0" tIns="0" rIns="0" bIns="0" rtlCol="0" anchor="t"/>
          <a:lstStyle/>
          <a:p>
            <a:pPr indent="0" marL="0">
              <a:buNone/>
            </a:pPr>
            <a:r>
              <a:rPr lang="en-US" sz="1500" dirty="0">
                <a:solidFill>
                  <a:schemeClr val="accent5"/>
                </a:solidFill>
              </a:rPr>
              <a:t>Dry eyes, headaches and blurred vision build up slowly. We stop blinking and lean closer without realising it.</a:t>
            </a:r>
            <a:endParaRPr lang="en-US" sz="1500" dirty="0"/>
          </a:p>
        </p:txBody>
      </p:sp>
      <p:sp>
        <p:nvSpPr>
          <p:cNvPr id="12" name="card Rising myopia"/>
          <p:cNvSpPr/>
          <p:nvPr/>
        </p:nvSpPr>
        <p:spPr>
          <a:xfrm>
            <a:off x="8101584" y="2194560"/>
            <a:ext cx="3456432" cy="2834640"/>
          </a:xfrm>
          <a:prstGeom prst="roundRect">
            <a:avLst>
              <a:gd name="adj" fmla="val 4839"/>
            </a:avLst>
          </a:prstGeom>
          <a:solidFill>
            <a:schemeClr val="bg1"/>
          </a:solidFill>
          <a:ln w="12700">
            <a:solidFill>
              <a:schemeClr val="accent3"/>
            </a:solidFill>
            <a:prstDash val="solid"/>
          </a:ln>
        </p:spPr>
      </p:sp>
      <p:pic>
        <p:nvPicPr>
          <p:cNvPr id="13" name="Image 2" descr="preencoded.png">    </p:cNvPr>
          <p:cNvPicPr>
            <a:picLocks noChangeAspect="1"/>
          </p:cNvPicPr>
          <p:nvPr/>
        </p:nvPicPr>
        <p:blipFill>
          <a:blip r:embed="rId3"/>
          <a:stretch>
            <a:fillRect/>
          </a:stretch>
        </p:blipFill>
        <p:spPr>
          <a:xfrm>
            <a:off x="8421624" y="2514600"/>
            <a:ext cx="502920" cy="502920"/>
          </a:xfrm>
          <a:prstGeom prst="rect">
            <a:avLst/>
          </a:prstGeom>
        </p:spPr>
      </p:pic>
      <p:sp>
        <p:nvSpPr>
          <p:cNvPr id="14" name="Text 9"/>
          <p:cNvSpPr txBox="1"/>
          <p:nvPr/>
        </p:nvSpPr>
        <p:spPr>
          <a:xfrm>
            <a:off x="8421624" y="3246120"/>
            <a:ext cx="281635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Rising myopia</a:t>
            </a:r>
            <a:endParaRPr lang="en-US" sz="2000" dirty="0"/>
          </a:p>
        </p:txBody>
      </p:sp>
      <p:sp>
        <p:nvSpPr>
          <p:cNvPr id="15" name="Text 10"/>
          <p:cNvSpPr txBox="1"/>
          <p:nvPr/>
        </p:nvSpPr>
        <p:spPr>
          <a:xfrm>
            <a:off x="8421624" y="3794760"/>
            <a:ext cx="2816352" cy="1737360"/>
          </a:xfrm>
          <a:prstGeom prst="rect">
            <a:avLst/>
          </a:prstGeom>
          <a:noFill/>
          <a:ln/>
        </p:spPr>
        <p:txBody>
          <a:bodyPr wrap="square" lIns="0" tIns="0" rIns="0" bIns="0" rtlCol="0" anchor="t"/>
          <a:lstStyle/>
          <a:p>
            <a:pPr indent="0" marL="0">
              <a:buNone/>
            </a:pPr>
            <a:r>
              <a:rPr lang="en-US" sz="1500" dirty="0">
                <a:solidFill>
                  <a:schemeClr val="accent5"/>
                </a:solidFill>
              </a:rPr>
              <a:t>Short-sightedness among young people is rising worldwide, and close-up screen habits are a major factor.</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822960"/>
            <a:ext cx="10058400" cy="365760"/>
          </a:xfrm>
          <a:prstGeom prst="rect">
            <a:avLst/>
          </a:prstGeom>
          <a:noFill/>
          <a:ln/>
        </p:spPr>
        <p:txBody>
          <a:bodyPr wrap="square" lIns="0" tIns="0" rIns="0" bIns="0" rtlCol="0" anchor="ctr"/>
          <a:lstStyle/>
          <a:p>
            <a:pPr indent="0" marL="0">
              <a:buNone/>
            </a:pPr>
            <a:r>
              <a:rPr lang="en-US" sz="1600" b="1" spc="300" kern="0" dirty="0">
                <a:solidFill>
                  <a:schemeClr val="accent1"/>
                </a:solidFill>
              </a:rPr>
              <a:t>WHAT HAPPENS WHEN WE STARE AT A SCREEN</a:t>
            </a:r>
            <a:endParaRPr lang="en-US" sz="1600" dirty="0"/>
          </a:p>
        </p:txBody>
      </p:sp>
      <p:sp>
        <p:nvSpPr>
          <p:cNvPr id="3" name="Text 1"/>
          <p:cNvSpPr txBox="1"/>
          <p:nvPr/>
        </p:nvSpPr>
        <p:spPr>
          <a:xfrm>
            <a:off x="640080" y="1828800"/>
            <a:ext cx="4206240" cy="1463040"/>
          </a:xfrm>
          <a:prstGeom prst="rect">
            <a:avLst/>
          </a:prstGeom>
          <a:noFill/>
          <a:ln/>
        </p:spPr>
        <p:txBody>
          <a:bodyPr wrap="square" lIns="0" tIns="0" rIns="0" bIns="0" rtlCol="0" anchor="ctr"/>
          <a:lstStyle/>
          <a:p>
            <a:pPr indent="0" marL="0">
              <a:buNone/>
            </a:pPr>
            <a:r>
              <a:rPr lang="en-US" sz="9600" b="1" dirty="0">
                <a:solidFill>
                  <a:schemeClr val="accent3"/>
                </a:solidFill>
                <a:latin typeface="Arial" pitchFamily="34" charset="0"/>
                <a:ea typeface="Arial" pitchFamily="34" charset="-122"/>
                <a:cs typeface="Arial" pitchFamily="34" charset="-120"/>
              </a:rPr>
              <a:t>15–20</a:t>
            </a:r>
            <a:endParaRPr lang="en-US" sz="9600" dirty="0"/>
          </a:p>
        </p:txBody>
      </p:sp>
      <p:sp>
        <p:nvSpPr>
          <p:cNvPr id="4" name="Text 2"/>
          <p:cNvSpPr txBox="1"/>
          <p:nvPr/>
        </p:nvSpPr>
        <p:spPr>
          <a:xfrm>
            <a:off x="640080" y="3291840"/>
            <a:ext cx="4206240" cy="457200"/>
          </a:xfrm>
          <a:prstGeom prst="rect">
            <a:avLst/>
          </a:prstGeom>
          <a:noFill/>
          <a:ln/>
        </p:spPr>
        <p:txBody>
          <a:bodyPr wrap="square" lIns="0" tIns="0" rIns="0" bIns="0" rtlCol="0" anchor="ctr"/>
          <a:lstStyle/>
          <a:p>
            <a:pPr indent="0" marL="0">
              <a:buNone/>
            </a:pPr>
            <a:r>
              <a:rPr lang="en-US" sz="2000" dirty="0">
                <a:solidFill>
                  <a:schemeClr val="accent3"/>
                </a:solidFill>
              </a:rPr>
              <a:t>blinks per minute, normally</a:t>
            </a:r>
            <a:endParaRPr lang="en-US" sz="2000" dirty="0"/>
          </a:p>
        </p:txBody>
      </p:sp>
      <p:sp>
        <p:nvSpPr>
          <p:cNvPr id="5" name="arrow"/>
          <p:cNvSpPr/>
          <p:nvPr/>
        </p:nvSpPr>
        <p:spPr>
          <a:xfrm>
            <a:off x="5120640" y="2240280"/>
            <a:ext cx="1463040" cy="731520"/>
          </a:xfrm>
          <a:prstGeom prst="rightArrow">
            <a:avLst/>
          </a:prstGeom>
          <a:solidFill>
            <a:schemeClr val="accent1"/>
          </a:solidFill>
          <a:ln/>
        </p:spPr>
      </p:sp>
      <p:sp>
        <p:nvSpPr>
          <p:cNvPr id="6" name="Text 4"/>
          <p:cNvSpPr txBox="1"/>
          <p:nvPr/>
        </p:nvSpPr>
        <p:spPr>
          <a:xfrm>
            <a:off x="7132320" y="1828800"/>
            <a:ext cx="4206240" cy="1463040"/>
          </a:xfrm>
          <a:prstGeom prst="rect">
            <a:avLst/>
          </a:prstGeom>
          <a:noFill/>
          <a:ln/>
        </p:spPr>
        <p:txBody>
          <a:bodyPr wrap="square" lIns="0" tIns="0" rIns="0" bIns="0" rtlCol="0" anchor="ctr"/>
          <a:lstStyle/>
          <a:p>
            <a:pPr indent="0" marL="0">
              <a:buNone/>
            </a:pPr>
            <a:r>
              <a:rPr lang="en-US" sz="9600" b="1" dirty="0">
                <a:solidFill>
                  <a:schemeClr val="accent1"/>
                </a:solidFill>
                <a:latin typeface="Arial" pitchFamily="34" charset="0"/>
                <a:ea typeface="Arial" pitchFamily="34" charset="-122"/>
                <a:cs typeface="Arial" pitchFamily="34" charset="-120"/>
              </a:rPr>
              <a:t>5–7</a:t>
            </a:r>
            <a:endParaRPr lang="en-US" sz="9600" dirty="0"/>
          </a:p>
        </p:txBody>
      </p:sp>
      <p:sp>
        <p:nvSpPr>
          <p:cNvPr id="7" name="Text 5"/>
          <p:cNvSpPr txBox="1"/>
          <p:nvPr/>
        </p:nvSpPr>
        <p:spPr>
          <a:xfrm>
            <a:off x="7132320" y="3291840"/>
            <a:ext cx="4389120" cy="457200"/>
          </a:xfrm>
          <a:prstGeom prst="rect">
            <a:avLst/>
          </a:prstGeom>
          <a:noFill/>
          <a:ln/>
        </p:spPr>
        <p:txBody>
          <a:bodyPr wrap="square" lIns="0" tIns="0" rIns="0" bIns="0" rtlCol="0" anchor="ctr"/>
          <a:lstStyle/>
          <a:p>
            <a:pPr indent="0" marL="0">
              <a:buNone/>
            </a:pPr>
            <a:r>
              <a:rPr lang="en-US" sz="2000" dirty="0">
                <a:solidFill>
                  <a:schemeClr val="accent1"/>
                </a:solidFill>
              </a:rPr>
              <a:t>blinks per minute on a screen</a:t>
            </a:r>
            <a:endParaRPr lang="en-US" sz="2000" dirty="0"/>
          </a:p>
        </p:txBody>
      </p:sp>
      <p:sp>
        <p:nvSpPr>
          <p:cNvPr id="8" name="Text 6"/>
          <p:cNvSpPr txBox="1"/>
          <p:nvPr/>
        </p:nvSpPr>
        <p:spPr>
          <a:xfrm>
            <a:off x="640080" y="4572000"/>
            <a:ext cx="10515600" cy="822960"/>
          </a:xfrm>
          <a:prstGeom prst="rect">
            <a:avLst/>
          </a:prstGeom>
          <a:noFill/>
          <a:ln/>
        </p:spPr>
        <p:txBody>
          <a:bodyPr wrap="square" lIns="0" tIns="0" rIns="0" bIns="0" rtlCol="0" anchor="ctr"/>
          <a:lstStyle/>
          <a:p>
            <a:pPr indent="0" marL="0">
              <a:buNone/>
            </a:pPr>
            <a:r>
              <a:rPr lang="en-US" sz="2600" dirty="0">
                <a:solidFill>
                  <a:schemeClr val="bg1"/>
                </a:solidFill>
              </a:rPr>
              <a:t>Fewer blinks mean drier, more tired eyes, and nobody notices it happening.</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lIns="0" tIns="0" rIns="0" bIns="0" rtlCol="0"/>
          <a:lstStyle/>
          <a:p>
            <a:pPr indent="0" marL="0">
              <a:buNone/>
            </a:pPr>
            <a:r>
              <a:rPr lang="en-US" sz="1400" b="1" spc="200" kern="0" dirty="0">
                <a:solidFill>
                  <a:schemeClr val="accent6"/>
                </a:solidFill>
              </a:rPr>
              <a:t>SUSTAINABLE DEVELOPMENT GOALS</a:t>
            </a: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lIns="0" tIns="0" rIns="0" bIns="0" rtlCol="0" anchor="t"/>
          <a:lstStyle/>
          <a:p>
            <a:pPr algn="l" indent="0" marL="0">
              <a:buNone/>
            </a:pPr>
            <a:r>
              <a:rPr lang="en-US" sz="3600" b="1" dirty="0">
                <a:solidFill>
                  <a:schemeClr val="tx2"/>
                </a:solidFill>
                <a:latin typeface="Arial" pitchFamily="34" charset="0"/>
                <a:ea typeface="Arial" pitchFamily="34" charset="-122"/>
                <a:cs typeface="Arial" pitchFamily="34" charset="-120"/>
              </a:rPr>
              <a:t>Prevention before damage</a:t>
            </a:r>
            <a:endParaRPr lang="en-US" sz="3600" dirty="0"/>
          </a:p>
        </p:txBody>
      </p:sp>
      <p:sp>
        <p:nvSpPr>
          <p:cNvPr id="4" name="SDG 3.4 card"/>
          <p:cNvSpPr/>
          <p:nvPr/>
        </p:nvSpPr>
        <p:spPr>
          <a:xfrm>
            <a:off x="640080" y="2103120"/>
            <a:ext cx="6400800" cy="3200400"/>
          </a:xfrm>
          <a:prstGeom prst="roundRect">
            <a:avLst>
              <a:gd name="adj" fmla="val 4286"/>
            </a:avLst>
          </a:prstGeom>
          <a:solidFill>
            <a:schemeClr val="tx2"/>
          </a:solidFill>
          <a:ln/>
        </p:spPr>
      </p:sp>
      <p:sp>
        <p:nvSpPr>
          <p:cNvPr id="5" name="SDG 3.4 pill"/>
          <p:cNvSpPr/>
          <p:nvPr/>
        </p:nvSpPr>
        <p:spPr>
          <a:xfrm>
            <a:off x="1051560" y="2514600"/>
            <a:ext cx="1371600" cy="457200"/>
          </a:xfrm>
          <a:prstGeom prst="roundRect">
            <a:avLst>
              <a:gd name="adj" fmla="val 50000"/>
            </a:avLst>
          </a:prstGeom>
          <a:solidFill>
            <a:schemeClr val="accent1"/>
          </a:solidFill>
          <a:ln/>
        </p:spPr>
      </p:sp>
      <p:sp>
        <p:nvSpPr>
          <p:cNvPr id="6" name="Text 4"/>
          <p:cNvSpPr txBox="1"/>
          <p:nvPr/>
        </p:nvSpPr>
        <p:spPr>
          <a:xfrm>
            <a:off x="1051560" y="2514600"/>
            <a:ext cx="1371600" cy="457200"/>
          </a:xfrm>
          <a:prstGeom prst="rect">
            <a:avLst/>
          </a:prstGeom>
          <a:noFill/>
          <a:ln/>
        </p:spPr>
        <p:txBody>
          <a:bodyPr wrap="square" lIns="0" tIns="0" rIns="0" bIns="0" rtlCol="0" anchor="ctr"/>
          <a:lstStyle/>
          <a:p>
            <a:pPr algn="ctr" indent="0" marL="0">
              <a:buNone/>
            </a:pPr>
            <a:r>
              <a:rPr lang="en-US" sz="1500" b="1" dirty="0">
                <a:solidFill>
                  <a:schemeClr val="tx2"/>
                </a:solidFill>
              </a:rPr>
              <a:t>SDG 3.4</a:t>
            </a:r>
            <a:endParaRPr lang="en-US" sz="1500" dirty="0"/>
          </a:p>
        </p:txBody>
      </p:sp>
      <p:sp>
        <p:nvSpPr>
          <p:cNvPr id="7" name="Text 5"/>
          <p:cNvSpPr txBox="1"/>
          <p:nvPr/>
        </p:nvSpPr>
        <p:spPr>
          <a:xfrm>
            <a:off x="1051560" y="3200400"/>
            <a:ext cx="5577840" cy="457200"/>
          </a:xfrm>
          <a:prstGeom prst="rect">
            <a:avLst/>
          </a:prstGeom>
          <a:noFill/>
          <a:ln/>
        </p:spPr>
        <p:txBody>
          <a:bodyPr wrap="square" lIns="0" tIns="0" rIns="0" bIns="0" rtlCol="0" anchor="ctr"/>
          <a:lstStyle/>
          <a:p>
            <a:pPr indent="0" marL="0">
              <a:buNone/>
            </a:pPr>
            <a:r>
              <a:rPr lang="en-US" sz="2400" b="1" dirty="0">
                <a:solidFill>
                  <a:schemeClr val="bg1"/>
                </a:solidFill>
                <a:latin typeface="Arial" pitchFamily="34" charset="0"/>
                <a:ea typeface="Arial" pitchFamily="34" charset="-122"/>
                <a:cs typeface="Arial" pitchFamily="34" charset="-120"/>
              </a:rPr>
              <a:t>Good health and well-being</a:t>
            </a:r>
            <a:endParaRPr lang="en-US" sz="2400" dirty="0"/>
          </a:p>
        </p:txBody>
      </p:sp>
      <p:sp>
        <p:nvSpPr>
          <p:cNvPr id="8" name="Text 6"/>
          <p:cNvSpPr txBox="1"/>
          <p:nvPr/>
        </p:nvSpPr>
        <p:spPr>
          <a:xfrm>
            <a:off x="1051560" y="3840480"/>
            <a:ext cx="5577840" cy="1828800"/>
          </a:xfrm>
          <a:prstGeom prst="rect">
            <a:avLst/>
          </a:prstGeom>
          <a:noFill/>
          <a:ln/>
        </p:spPr>
        <p:txBody>
          <a:bodyPr wrap="square" lIns="0" tIns="0" rIns="0" bIns="0" rtlCol="0" anchor="t"/>
          <a:lstStyle/>
          <a:p>
            <a:pPr indent="0" marL="0">
              <a:buNone/>
            </a:pPr>
            <a:r>
              <a:rPr lang="en-US" sz="1500" dirty="0">
                <a:solidFill>
                  <a:schemeClr val="accent3"/>
                </a:solidFill>
              </a:rPr>
              <a:t>Target 3.4 calls for prevention of non-communicable disease and the promotion of well-being. EyeGuard prevents a lifestyle health problem early, at zero cost, using hardware students already own.</a:t>
            </a:r>
            <a:endParaRPr lang="en-US" sz="1500" dirty="0"/>
          </a:p>
        </p:txBody>
      </p:sp>
      <p:sp>
        <p:nvSpPr>
          <p:cNvPr id="9" name="SDG 4 card"/>
          <p:cNvSpPr/>
          <p:nvPr/>
        </p:nvSpPr>
        <p:spPr>
          <a:xfrm>
            <a:off x="7315200" y="2103120"/>
            <a:ext cx="4233672" cy="3200400"/>
          </a:xfrm>
          <a:prstGeom prst="roundRect">
            <a:avLst>
              <a:gd name="adj" fmla="val 4286"/>
            </a:avLst>
          </a:prstGeom>
          <a:solidFill>
            <a:schemeClr val="bg1"/>
          </a:solidFill>
          <a:ln w="12700">
            <a:solidFill>
              <a:schemeClr val="accent3"/>
            </a:solidFill>
            <a:prstDash val="solid"/>
          </a:ln>
        </p:spPr>
      </p:sp>
      <p:sp>
        <p:nvSpPr>
          <p:cNvPr id="10" name="SDG 4 pill"/>
          <p:cNvSpPr/>
          <p:nvPr/>
        </p:nvSpPr>
        <p:spPr>
          <a:xfrm>
            <a:off x="7726680" y="2514600"/>
            <a:ext cx="1097280" cy="457200"/>
          </a:xfrm>
          <a:prstGeom prst="roundRect">
            <a:avLst>
              <a:gd name="adj" fmla="val 50000"/>
            </a:avLst>
          </a:prstGeom>
          <a:solidFill>
            <a:schemeClr val="accent2"/>
          </a:solidFill>
          <a:ln/>
        </p:spPr>
      </p:sp>
      <p:sp>
        <p:nvSpPr>
          <p:cNvPr id="11" name="Text 9"/>
          <p:cNvSpPr txBox="1"/>
          <p:nvPr/>
        </p:nvSpPr>
        <p:spPr>
          <a:xfrm>
            <a:off x="7726680" y="2514600"/>
            <a:ext cx="1097280" cy="457200"/>
          </a:xfrm>
          <a:prstGeom prst="rect">
            <a:avLst/>
          </a:prstGeom>
          <a:noFill/>
          <a:ln/>
        </p:spPr>
        <p:txBody>
          <a:bodyPr wrap="square" lIns="0" tIns="0" rIns="0" bIns="0" rtlCol="0" anchor="ctr"/>
          <a:lstStyle/>
          <a:p>
            <a:pPr algn="ctr" indent="0" marL="0">
              <a:buNone/>
            </a:pPr>
            <a:r>
              <a:rPr lang="en-US" sz="1500" b="1" dirty="0">
                <a:solidFill>
                  <a:schemeClr val="bg1"/>
                </a:solidFill>
              </a:rPr>
              <a:t>SDG 4</a:t>
            </a:r>
            <a:endParaRPr lang="en-US" sz="1500" dirty="0"/>
          </a:p>
        </p:txBody>
      </p:sp>
      <p:sp>
        <p:nvSpPr>
          <p:cNvPr id="12" name="Text 10"/>
          <p:cNvSpPr txBox="1"/>
          <p:nvPr/>
        </p:nvSpPr>
        <p:spPr>
          <a:xfrm>
            <a:off x="7726680" y="3200400"/>
            <a:ext cx="3474720" cy="457200"/>
          </a:xfrm>
          <a:prstGeom prst="rect">
            <a:avLst/>
          </a:prstGeom>
          <a:noFill/>
          <a:ln/>
        </p:spPr>
        <p:txBody>
          <a:bodyPr wrap="square" lIns="0" tIns="0" rIns="0" bIns="0" rtlCol="0" anchor="ctr"/>
          <a:lstStyle/>
          <a:p>
            <a:pPr indent="0" marL="0">
              <a:buNone/>
            </a:pPr>
            <a:r>
              <a:rPr lang="en-US" sz="2400" b="1" dirty="0">
                <a:solidFill>
                  <a:schemeClr val="tx2"/>
                </a:solidFill>
                <a:latin typeface="Arial" pitchFamily="34" charset="0"/>
                <a:ea typeface="Arial" pitchFamily="34" charset="-122"/>
                <a:cs typeface="Arial" pitchFamily="34" charset="-120"/>
              </a:rPr>
              <a:t>Quality education</a:t>
            </a:r>
            <a:endParaRPr lang="en-US" sz="2400" dirty="0"/>
          </a:p>
        </p:txBody>
      </p:sp>
      <p:sp>
        <p:nvSpPr>
          <p:cNvPr id="13" name="Text 11"/>
          <p:cNvSpPr txBox="1"/>
          <p:nvPr/>
        </p:nvSpPr>
        <p:spPr>
          <a:xfrm>
            <a:off x="7726680" y="3840480"/>
            <a:ext cx="3474720" cy="1828800"/>
          </a:xfrm>
          <a:prstGeom prst="rect">
            <a:avLst/>
          </a:prstGeom>
          <a:noFill/>
          <a:ln/>
        </p:spPr>
        <p:txBody>
          <a:bodyPr wrap="square" lIns="0" tIns="0" rIns="0" bIns="0" rtlCol="0" anchor="t"/>
          <a:lstStyle/>
          <a:p>
            <a:pPr indent="0" marL="0">
              <a:buNone/>
            </a:pPr>
            <a:r>
              <a:rPr lang="en-US" sz="1500" dirty="0">
                <a:solidFill>
                  <a:schemeClr val="accent5"/>
                </a:solidFill>
              </a:rPr>
              <a:t>Healthier eyes mean longer, more comfortable study sessions and better focus.</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accent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lIns="0" tIns="0" rIns="0" bIns="0" rtlCol="0"/>
          <a:lstStyle/>
          <a:p>
            <a:pPr indent="0" marL="0">
              <a:buNone/>
            </a:pPr>
            <a:r>
              <a:rPr lang="en-US" sz="1400" b="1" spc="200" kern="0" dirty="0">
                <a:solidFill>
                  <a:schemeClr val="accent6"/>
                </a:solidFill>
              </a:rPr>
              <a:t>OUR SOLUTION</a:t>
            </a: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lIns="0" tIns="0" rIns="0" bIns="0" rtlCol="0" anchor="t"/>
          <a:lstStyle/>
          <a:p>
            <a:pPr algn="l" indent="0" marL="0">
              <a:buNone/>
            </a:pPr>
            <a:r>
              <a:rPr lang="en-US" sz="3600" b="1" dirty="0">
                <a:solidFill>
                  <a:schemeClr val="tx2"/>
                </a:solidFill>
                <a:latin typeface="Arial" pitchFamily="34" charset="0"/>
                <a:ea typeface="Arial" pitchFamily="34" charset="-122"/>
                <a:cs typeface="Arial" pitchFamily="34" charset="-120"/>
              </a:rPr>
              <a:t>EyeGuard watches your eyes so you don't have to</a:t>
            </a:r>
            <a:endParaRPr lang="en-US" sz="3600" dirty="0"/>
          </a:p>
        </p:txBody>
      </p:sp>
      <p:sp>
        <p:nvSpPr>
          <p:cNvPr id="4" name="Text 2"/>
          <p:cNvSpPr txBox="1"/>
          <p:nvPr/>
        </p:nvSpPr>
        <p:spPr>
          <a:xfrm>
            <a:off x="640080" y="2103120"/>
            <a:ext cx="7315200" cy="1463040"/>
          </a:xfrm>
          <a:prstGeom prst="rect">
            <a:avLst/>
          </a:prstGeom>
          <a:noFill/>
          <a:ln/>
        </p:spPr>
        <p:txBody>
          <a:bodyPr wrap="square" lIns="0" tIns="0" rIns="0" bIns="0" rtlCol="0" anchor="t"/>
          <a:lstStyle/>
          <a:p>
            <a:pPr indent="0" marL="0">
              <a:buNone/>
            </a:pPr>
            <a:r>
              <a:rPr lang="en-US" sz="2200" dirty="0">
                <a:solidFill>
                  <a:schemeClr val="tx1"/>
                </a:solidFill>
              </a:rPr>
              <a:t>A Python app that uses an ordinary laptop webcam to track blinking, screen distance and breaks in real time, and alerts you before strain builds up.</a:t>
            </a:r>
            <a:endParaRPr lang="en-US" sz="2200" dirty="0"/>
          </a:p>
        </p:txBody>
      </p:sp>
      <p:sp>
        <p:nvSpPr>
          <p:cNvPr id="5" name="pill No extra hardware"/>
          <p:cNvSpPr/>
          <p:nvPr/>
        </p:nvSpPr>
        <p:spPr>
          <a:xfrm>
            <a:off x="640080" y="3931920"/>
            <a:ext cx="3840480" cy="502920"/>
          </a:xfrm>
          <a:prstGeom prst="roundRect">
            <a:avLst>
              <a:gd name="adj" fmla="val 49091"/>
            </a:avLst>
          </a:prstGeom>
          <a:solidFill>
            <a:schemeClr val="bg1"/>
          </a:solidFill>
          <a:ln w="12700">
            <a:solidFill>
              <a:schemeClr val="accent3"/>
            </a:solidFill>
            <a:prstDash val="solid"/>
          </a:ln>
        </p:spPr>
      </p:sp>
      <p:sp>
        <p:nvSpPr>
          <p:cNvPr id="6" name="Text 4"/>
          <p:cNvSpPr txBox="1"/>
          <p:nvPr/>
        </p:nvSpPr>
        <p:spPr>
          <a:xfrm>
            <a:off x="914400" y="3931920"/>
            <a:ext cx="3474720" cy="502920"/>
          </a:xfrm>
          <a:prstGeom prst="rect">
            <a:avLst/>
          </a:prstGeom>
          <a:noFill/>
          <a:ln/>
        </p:spPr>
        <p:txBody>
          <a:bodyPr wrap="square" lIns="0" tIns="0" rIns="0" bIns="0" rtlCol="0" anchor="ctr"/>
          <a:lstStyle/>
          <a:p>
            <a:pPr indent="0" marL="0">
              <a:buNone/>
            </a:pPr>
            <a:r>
              <a:rPr lang="en-US" sz="1600" b="1" dirty="0">
                <a:solidFill>
                  <a:schemeClr val="tx2"/>
                </a:solidFill>
              </a:rPr>
              <a:t>No extra hardware</a:t>
            </a:r>
            <a:endParaRPr lang="en-US" sz="1600" dirty="0"/>
          </a:p>
        </p:txBody>
      </p:sp>
      <p:sp>
        <p:nvSpPr>
          <p:cNvPr id="7" name="pill Free and open"/>
          <p:cNvSpPr/>
          <p:nvPr/>
        </p:nvSpPr>
        <p:spPr>
          <a:xfrm>
            <a:off x="640080" y="4617720"/>
            <a:ext cx="3840480" cy="502920"/>
          </a:xfrm>
          <a:prstGeom prst="roundRect">
            <a:avLst>
              <a:gd name="adj" fmla="val 49091"/>
            </a:avLst>
          </a:prstGeom>
          <a:solidFill>
            <a:schemeClr val="bg1"/>
          </a:solidFill>
          <a:ln w="12700">
            <a:solidFill>
              <a:schemeClr val="accent3"/>
            </a:solidFill>
            <a:prstDash val="solid"/>
          </a:ln>
        </p:spPr>
      </p:sp>
      <p:sp>
        <p:nvSpPr>
          <p:cNvPr id="8" name="Text 6"/>
          <p:cNvSpPr txBox="1"/>
          <p:nvPr/>
        </p:nvSpPr>
        <p:spPr>
          <a:xfrm>
            <a:off x="914400" y="4617720"/>
            <a:ext cx="3474720" cy="502920"/>
          </a:xfrm>
          <a:prstGeom prst="rect">
            <a:avLst/>
          </a:prstGeom>
          <a:noFill/>
          <a:ln/>
        </p:spPr>
        <p:txBody>
          <a:bodyPr wrap="square" lIns="0" tIns="0" rIns="0" bIns="0" rtlCol="0" anchor="ctr"/>
          <a:lstStyle/>
          <a:p>
            <a:pPr indent="0" marL="0">
              <a:buNone/>
            </a:pPr>
            <a:r>
              <a:rPr lang="en-US" sz="1600" b="1" dirty="0">
                <a:solidFill>
                  <a:schemeClr val="tx2"/>
                </a:solidFill>
              </a:rPr>
              <a:t>Free and open</a:t>
            </a:r>
            <a:endParaRPr lang="en-US" sz="1600" dirty="0"/>
          </a:p>
        </p:txBody>
      </p:sp>
      <p:sp>
        <p:nvSpPr>
          <p:cNvPr id="9" name="pill Data stays on your laptop"/>
          <p:cNvSpPr/>
          <p:nvPr/>
        </p:nvSpPr>
        <p:spPr>
          <a:xfrm>
            <a:off x="640080" y="5303520"/>
            <a:ext cx="3840480" cy="502920"/>
          </a:xfrm>
          <a:prstGeom prst="roundRect">
            <a:avLst>
              <a:gd name="adj" fmla="val 49091"/>
            </a:avLst>
          </a:prstGeom>
          <a:solidFill>
            <a:schemeClr val="bg1"/>
          </a:solidFill>
          <a:ln w="12700">
            <a:solidFill>
              <a:schemeClr val="accent3"/>
            </a:solidFill>
            <a:prstDash val="solid"/>
          </a:ln>
        </p:spPr>
      </p:sp>
      <p:sp>
        <p:nvSpPr>
          <p:cNvPr id="10" name="Text 8"/>
          <p:cNvSpPr txBox="1"/>
          <p:nvPr/>
        </p:nvSpPr>
        <p:spPr>
          <a:xfrm>
            <a:off x="914400" y="5303520"/>
            <a:ext cx="3474720" cy="502920"/>
          </a:xfrm>
          <a:prstGeom prst="rect">
            <a:avLst/>
          </a:prstGeom>
          <a:noFill/>
          <a:ln/>
        </p:spPr>
        <p:txBody>
          <a:bodyPr wrap="square" lIns="0" tIns="0" rIns="0" bIns="0" rtlCol="0" anchor="ctr"/>
          <a:lstStyle/>
          <a:p>
            <a:pPr indent="0" marL="0">
              <a:buNone/>
            </a:pPr>
            <a:r>
              <a:rPr lang="en-US" sz="1600" b="1" dirty="0">
                <a:solidFill>
                  <a:schemeClr val="tx2"/>
                </a:solidFill>
              </a:rPr>
              <a:t>Data stays on your laptop</a:t>
            </a:r>
            <a:endParaRPr lang="en-US" sz="1600" dirty="0"/>
          </a:p>
        </p:txBody>
      </p:sp>
      <p:sp>
        <p:nvSpPr>
          <p:cNvPr id="11" name="eye badge"/>
          <p:cNvSpPr/>
          <p:nvPr/>
        </p:nvSpPr>
        <p:spPr>
          <a:xfrm>
            <a:off x="8503920" y="2194560"/>
            <a:ext cx="2926080" cy="2926080"/>
          </a:xfrm>
          <a:prstGeom prst="ellipse">
            <a:avLst/>
          </a:prstGeom>
          <a:solidFill>
            <a:schemeClr val="tx2"/>
          </a:solidFill>
          <a:ln/>
        </p:spPr>
      </p:sp>
      <p:pic>
        <p:nvPicPr>
          <p:cNvPr id="12" name="Image 0" descr="preencoded.png">    </p:cNvPr>
          <p:cNvPicPr>
            <a:picLocks noChangeAspect="1"/>
          </p:cNvPicPr>
          <p:nvPr/>
        </p:nvPicPr>
        <p:blipFill>
          <a:blip r:embed="rId1"/>
          <a:stretch>
            <a:fillRect/>
          </a:stretch>
        </p:blipFill>
        <p:spPr>
          <a:xfrm>
            <a:off x="9326880" y="3017520"/>
            <a:ext cx="1280160" cy="1280160"/>
          </a:xfrm>
          <a:prstGeom prst="rect">
            <a:avLst/>
          </a:prstGeom>
        </p:spPr>
      </p:pic>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lIns="0" tIns="0" rIns="0" bIns="0" rtlCol="0"/>
          <a:lstStyle/>
          <a:p>
            <a:pPr indent="0" marL="0">
              <a:buNone/>
            </a:pPr>
            <a:r>
              <a:rPr lang="en-US" sz="1400" b="1" spc="200" kern="0" dirty="0">
                <a:solidFill>
                  <a:schemeClr val="accent6"/>
                </a:solidFill>
              </a:rPr>
              <a:t>HOW IT WORKS</a:t>
            </a: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lIns="0" tIns="0" rIns="0" bIns="0" rtlCol="0" anchor="t"/>
          <a:lstStyle/>
          <a:p>
            <a:pPr algn="l" indent="0" marL="0">
              <a:buNone/>
            </a:pPr>
            <a:r>
              <a:rPr lang="en-US" sz="3600" b="1" dirty="0">
                <a:solidFill>
                  <a:schemeClr val="tx2"/>
                </a:solidFill>
                <a:latin typeface="Arial" pitchFamily="34" charset="0"/>
                <a:ea typeface="Arial" pitchFamily="34" charset="-122"/>
                <a:cs typeface="Arial" pitchFamily="34" charset="-120"/>
              </a:rPr>
              <a:t>From webcam frame to alert, 30 times a second</a:t>
            </a:r>
            <a:endParaRPr lang="en-US" sz="3600" dirty="0"/>
          </a:p>
        </p:txBody>
      </p:sp>
      <p:sp>
        <p:nvSpPr>
          <p:cNvPr id="4" name="step 1"/>
          <p:cNvSpPr/>
          <p:nvPr/>
        </p:nvSpPr>
        <p:spPr>
          <a:xfrm>
            <a:off x="640080" y="2286000"/>
            <a:ext cx="2377440" cy="3200400"/>
          </a:xfrm>
          <a:prstGeom prst="roundRect">
            <a:avLst>
              <a:gd name="adj" fmla="val 5769"/>
            </a:avLst>
          </a:prstGeom>
          <a:solidFill>
            <a:schemeClr val="bg1"/>
          </a:solidFill>
          <a:ln w="12700">
            <a:solidFill>
              <a:schemeClr val="accent3"/>
            </a:solidFill>
            <a:prstDash val="solid"/>
          </a:ln>
        </p:spPr>
      </p:sp>
      <p:sp>
        <p:nvSpPr>
          <p:cNvPr id="5" name="Text 3"/>
          <p:cNvSpPr txBox="1"/>
          <p:nvPr/>
        </p:nvSpPr>
        <p:spPr>
          <a:xfrm>
            <a:off x="914400" y="2560320"/>
            <a:ext cx="914400" cy="73152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1</a:t>
            </a:r>
            <a:endParaRPr lang="en-US" sz="4000" dirty="0"/>
          </a:p>
        </p:txBody>
      </p:sp>
      <p:sp>
        <p:nvSpPr>
          <p:cNvPr id="6" name="Text 4"/>
          <p:cNvSpPr txBox="1"/>
          <p:nvPr/>
        </p:nvSpPr>
        <p:spPr>
          <a:xfrm>
            <a:off x="914400" y="3429000"/>
            <a:ext cx="1828800"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Capture</a:t>
            </a:r>
            <a:endParaRPr lang="en-US" sz="2000" dirty="0"/>
          </a:p>
        </p:txBody>
      </p:sp>
      <p:sp>
        <p:nvSpPr>
          <p:cNvPr id="7" name="Text 5"/>
          <p:cNvSpPr txBox="1"/>
          <p:nvPr/>
        </p:nvSpPr>
        <p:spPr>
          <a:xfrm>
            <a:off x="914400" y="3977640"/>
            <a:ext cx="1828800" cy="1371600"/>
          </a:xfrm>
          <a:prstGeom prst="rect">
            <a:avLst/>
          </a:prstGeom>
          <a:noFill/>
          <a:ln/>
        </p:spPr>
        <p:txBody>
          <a:bodyPr wrap="square" lIns="0" tIns="0" rIns="0" bIns="0" rtlCol="0" anchor="t"/>
          <a:lstStyle/>
          <a:p>
            <a:pPr indent="0" marL="0">
              <a:buNone/>
            </a:pPr>
            <a:r>
              <a:rPr lang="en-US" sz="1500" dirty="0">
                <a:solidFill>
                  <a:schemeClr val="accent5"/>
                </a:solidFill>
              </a:rPr>
              <a:t>OpenCV reads each webcam frame.</a:t>
            </a:r>
            <a:endParaRPr lang="en-US" sz="1500" dirty="0"/>
          </a:p>
        </p:txBody>
      </p:sp>
      <p:sp>
        <p:nvSpPr>
          <p:cNvPr id="8" name="arrow 1"/>
          <p:cNvSpPr/>
          <p:nvPr/>
        </p:nvSpPr>
        <p:spPr>
          <a:xfrm>
            <a:off x="3090672" y="3749040"/>
            <a:ext cx="274320" cy="274320"/>
          </a:xfrm>
          <a:prstGeom prst="rightArrow">
            <a:avLst/>
          </a:prstGeom>
          <a:solidFill>
            <a:schemeClr val="accent2"/>
          </a:solidFill>
          <a:ln/>
        </p:spPr>
      </p:sp>
      <p:sp>
        <p:nvSpPr>
          <p:cNvPr id="9" name="step 2"/>
          <p:cNvSpPr/>
          <p:nvPr/>
        </p:nvSpPr>
        <p:spPr>
          <a:xfrm>
            <a:off x="3429000" y="2286000"/>
            <a:ext cx="2377440" cy="3200400"/>
          </a:xfrm>
          <a:prstGeom prst="roundRect">
            <a:avLst>
              <a:gd name="adj" fmla="val 5769"/>
            </a:avLst>
          </a:prstGeom>
          <a:solidFill>
            <a:schemeClr val="bg1"/>
          </a:solidFill>
          <a:ln w="12700">
            <a:solidFill>
              <a:schemeClr val="accent3"/>
            </a:solidFill>
            <a:prstDash val="solid"/>
          </a:ln>
        </p:spPr>
      </p:sp>
      <p:sp>
        <p:nvSpPr>
          <p:cNvPr id="10" name="Text 8"/>
          <p:cNvSpPr txBox="1"/>
          <p:nvPr/>
        </p:nvSpPr>
        <p:spPr>
          <a:xfrm>
            <a:off x="3703320" y="2560320"/>
            <a:ext cx="914400" cy="73152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2</a:t>
            </a:r>
            <a:endParaRPr lang="en-US" sz="4000" dirty="0"/>
          </a:p>
        </p:txBody>
      </p:sp>
      <p:sp>
        <p:nvSpPr>
          <p:cNvPr id="11" name="Text 9"/>
          <p:cNvSpPr txBox="1"/>
          <p:nvPr/>
        </p:nvSpPr>
        <p:spPr>
          <a:xfrm>
            <a:off x="3703320" y="3429000"/>
            <a:ext cx="1828800"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Map the face</a:t>
            </a:r>
            <a:endParaRPr lang="en-US" sz="2000" dirty="0"/>
          </a:p>
        </p:txBody>
      </p:sp>
      <p:sp>
        <p:nvSpPr>
          <p:cNvPr id="12" name="Text 10"/>
          <p:cNvSpPr txBox="1"/>
          <p:nvPr/>
        </p:nvSpPr>
        <p:spPr>
          <a:xfrm>
            <a:off x="3703320" y="3977640"/>
            <a:ext cx="1828800" cy="1371600"/>
          </a:xfrm>
          <a:prstGeom prst="rect">
            <a:avLst/>
          </a:prstGeom>
          <a:noFill/>
          <a:ln/>
        </p:spPr>
        <p:txBody>
          <a:bodyPr wrap="square" lIns="0" tIns="0" rIns="0" bIns="0" rtlCol="0" anchor="t"/>
          <a:lstStyle/>
          <a:p>
            <a:pPr indent="0" marL="0">
              <a:buNone/>
            </a:pPr>
            <a:r>
              <a:rPr lang="en-US" sz="1500" dirty="0">
                <a:solidFill>
                  <a:schemeClr val="accent5"/>
                </a:solidFill>
              </a:rPr>
              <a:t>MediaPipe finds 478 face points, including eyes and irises.</a:t>
            </a:r>
            <a:endParaRPr lang="en-US" sz="1500" dirty="0"/>
          </a:p>
        </p:txBody>
      </p:sp>
      <p:sp>
        <p:nvSpPr>
          <p:cNvPr id="13" name="arrow 2"/>
          <p:cNvSpPr/>
          <p:nvPr/>
        </p:nvSpPr>
        <p:spPr>
          <a:xfrm>
            <a:off x="5879592" y="3749040"/>
            <a:ext cx="274320" cy="274320"/>
          </a:xfrm>
          <a:prstGeom prst="rightArrow">
            <a:avLst/>
          </a:prstGeom>
          <a:solidFill>
            <a:schemeClr val="accent2"/>
          </a:solidFill>
          <a:ln/>
        </p:spPr>
      </p:sp>
      <p:sp>
        <p:nvSpPr>
          <p:cNvPr id="14" name="step 3"/>
          <p:cNvSpPr/>
          <p:nvPr/>
        </p:nvSpPr>
        <p:spPr>
          <a:xfrm>
            <a:off x="6217920" y="2286000"/>
            <a:ext cx="2377440" cy="3200400"/>
          </a:xfrm>
          <a:prstGeom prst="roundRect">
            <a:avLst>
              <a:gd name="adj" fmla="val 5769"/>
            </a:avLst>
          </a:prstGeom>
          <a:solidFill>
            <a:schemeClr val="bg1"/>
          </a:solidFill>
          <a:ln w="12700">
            <a:solidFill>
              <a:schemeClr val="accent3"/>
            </a:solidFill>
            <a:prstDash val="solid"/>
          </a:ln>
        </p:spPr>
      </p:sp>
      <p:sp>
        <p:nvSpPr>
          <p:cNvPr id="15" name="Text 13"/>
          <p:cNvSpPr txBox="1"/>
          <p:nvPr/>
        </p:nvSpPr>
        <p:spPr>
          <a:xfrm>
            <a:off x="6492240" y="2560320"/>
            <a:ext cx="914400" cy="73152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3</a:t>
            </a:r>
            <a:endParaRPr lang="en-US" sz="4000" dirty="0"/>
          </a:p>
        </p:txBody>
      </p:sp>
      <p:sp>
        <p:nvSpPr>
          <p:cNvPr id="16" name="Text 14"/>
          <p:cNvSpPr txBox="1"/>
          <p:nvPr/>
        </p:nvSpPr>
        <p:spPr>
          <a:xfrm>
            <a:off x="6492240" y="3429000"/>
            <a:ext cx="1828800"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Measure</a:t>
            </a:r>
            <a:endParaRPr lang="en-US" sz="2000" dirty="0"/>
          </a:p>
        </p:txBody>
      </p:sp>
      <p:sp>
        <p:nvSpPr>
          <p:cNvPr id="17" name="Text 15"/>
          <p:cNvSpPr txBox="1"/>
          <p:nvPr/>
        </p:nvSpPr>
        <p:spPr>
          <a:xfrm>
            <a:off x="6492240" y="3977640"/>
            <a:ext cx="1828800" cy="1371600"/>
          </a:xfrm>
          <a:prstGeom prst="rect">
            <a:avLst/>
          </a:prstGeom>
          <a:noFill/>
          <a:ln/>
        </p:spPr>
        <p:txBody>
          <a:bodyPr wrap="square" lIns="0" tIns="0" rIns="0" bIns="0" rtlCol="0" anchor="t"/>
          <a:lstStyle/>
          <a:p>
            <a:pPr indent="0" marL="0">
              <a:buNone/>
            </a:pPr>
            <a:r>
              <a:rPr lang="en-US" sz="1500" dirty="0">
                <a:solidFill>
                  <a:schemeClr val="accent5"/>
                </a:solidFill>
              </a:rPr>
              <a:t>Python computes blink rate, distance and head tilt.</a:t>
            </a:r>
            <a:endParaRPr lang="en-US" sz="1500" dirty="0"/>
          </a:p>
        </p:txBody>
      </p:sp>
      <p:sp>
        <p:nvSpPr>
          <p:cNvPr id="18" name="arrow 3"/>
          <p:cNvSpPr/>
          <p:nvPr/>
        </p:nvSpPr>
        <p:spPr>
          <a:xfrm>
            <a:off x="8668512" y="3749040"/>
            <a:ext cx="274320" cy="274320"/>
          </a:xfrm>
          <a:prstGeom prst="rightArrow">
            <a:avLst/>
          </a:prstGeom>
          <a:solidFill>
            <a:schemeClr val="accent2"/>
          </a:solidFill>
          <a:ln/>
        </p:spPr>
      </p:sp>
      <p:sp>
        <p:nvSpPr>
          <p:cNvPr id="19" name="step 4"/>
          <p:cNvSpPr/>
          <p:nvPr/>
        </p:nvSpPr>
        <p:spPr>
          <a:xfrm>
            <a:off x="9006840" y="2286000"/>
            <a:ext cx="2377440" cy="3200400"/>
          </a:xfrm>
          <a:prstGeom prst="roundRect">
            <a:avLst>
              <a:gd name="adj" fmla="val 5769"/>
            </a:avLst>
          </a:prstGeom>
          <a:solidFill>
            <a:schemeClr val="tx2"/>
          </a:solidFill>
          <a:ln/>
        </p:spPr>
      </p:sp>
      <p:sp>
        <p:nvSpPr>
          <p:cNvPr id="20" name="Text 18"/>
          <p:cNvSpPr txBox="1"/>
          <p:nvPr/>
        </p:nvSpPr>
        <p:spPr>
          <a:xfrm>
            <a:off x="9281160" y="2560320"/>
            <a:ext cx="914400" cy="73152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4</a:t>
            </a:r>
            <a:endParaRPr lang="en-US" sz="4000" dirty="0"/>
          </a:p>
        </p:txBody>
      </p:sp>
      <p:sp>
        <p:nvSpPr>
          <p:cNvPr id="21" name="Text 19"/>
          <p:cNvSpPr txBox="1"/>
          <p:nvPr/>
        </p:nvSpPr>
        <p:spPr>
          <a:xfrm>
            <a:off x="9281160" y="3429000"/>
            <a:ext cx="1828800" cy="457200"/>
          </a:xfrm>
          <a:prstGeom prst="rect">
            <a:avLst/>
          </a:prstGeom>
          <a:noFill/>
          <a:ln/>
        </p:spPr>
        <p:txBody>
          <a:bodyPr wrap="square" lIns="0" tIns="0" rIns="0" bIns="0" rtlCol="0" anchor="ctr"/>
          <a:lstStyle/>
          <a:p>
            <a:pPr indent="0" marL="0">
              <a:buNone/>
            </a:pPr>
            <a:r>
              <a:rPr lang="en-US" sz="2000" b="1" dirty="0">
                <a:solidFill>
                  <a:schemeClr val="bg1"/>
                </a:solidFill>
                <a:latin typeface="Arial" pitchFamily="34" charset="0"/>
                <a:ea typeface="Arial" pitchFamily="34" charset="-122"/>
                <a:cs typeface="Arial" pitchFamily="34" charset="-120"/>
              </a:rPr>
              <a:t>Alert and log</a:t>
            </a:r>
            <a:endParaRPr lang="en-US" sz="2000" dirty="0"/>
          </a:p>
        </p:txBody>
      </p:sp>
      <p:sp>
        <p:nvSpPr>
          <p:cNvPr id="22" name="Text 20"/>
          <p:cNvSpPr txBox="1"/>
          <p:nvPr/>
        </p:nvSpPr>
        <p:spPr>
          <a:xfrm>
            <a:off x="9281160" y="3977640"/>
            <a:ext cx="1828800" cy="1371600"/>
          </a:xfrm>
          <a:prstGeom prst="rect">
            <a:avLst/>
          </a:prstGeom>
          <a:noFill/>
          <a:ln/>
        </p:spPr>
        <p:txBody>
          <a:bodyPr wrap="square" lIns="0" tIns="0" rIns="0" bIns="0" rtlCol="0" anchor="t"/>
          <a:lstStyle/>
          <a:p>
            <a:pPr indent="0" marL="0">
              <a:buNone/>
            </a:pPr>
            <a:r>
              <a:rPr lang="en-US" sz="1500" dirty="0">
                <a:solidFill>
                  <a:schemeClr val="accent3"/>
                </a:solidFill>
              </a:rPr>
              <a:t>On-screen and sound alerts, plus a CSV log for reports.</a:t>
            </a:r>
            <a:endParaRPr lang="en-US" sz="1500" dirty="0"/>
          </a:p>
        </p:txBody>
      </p:sp>
      <p:sp>
        <p:nvSpPr>
          <p:cNvPr id="23" name="Text 21"/>
          <p:cNvSpPr txBox="1"/>
          <p:nvPr/>
        </p:nvSpPr>
        <p:spPr>
          <a:xfrm>
            <a:off x="640080" y="5760720"/>
            <a:ext cx="8229600" cy="365760"/>
          </a:xfrm>
          <a:prstGeom prst="rect">
            <a:avLst/>
          </a:prstGeom>
          <a:noFill/>
          <a:ln/>
        </p:spPr>
        <p:txBody>
          <a:bodyPr wrap="square" lIns="0" tIns="0" rIns="0" bIns="0" rtlCol="0" anchor="ctr"/>
          <a:lstStyle/>
          <a:p>
            <a:pPr indent="0" marL="0">
              <a:buNone/>
            </a:pPr>
            <a:r>
              <a:rPr lang="en-US" sz="1400" i="1" dirty="0">
                <a:solidFill>
                  <a:schemeClr val="accent2"/>
                </a:solidFill>
              </a:rPr>
              <a:t>Python · OpenCV · MediaPipe · NumPy · pandas · Matplotlib</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lIns="0" tIns="0" rIns="0" bIns="0" rtlCol="0"/>
          <a:lstStyle/>
          <a:p>
            <a:pPr indent="0" marL="0">
              <a:buNone/>
            </a:pPr>
            <a:r>
              <a:rPr lang="en-US" sz="1400" b="1" spc="200" kern="0" dirty="0">
                <a:solidFill>
                  <a:schemeClr val="accent6"/>
                </a:solidFill>
              </a:rPr>
              <a:t>FEATURES</a:t>
            </a: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lIns="0" tIns="0" rIns="0" bIns="0" rtlCol="0" anchor="t"/>
          <a:lstStyle/>
          <a:p>
            <a:pPr algn="l" indent="0" marL="0">
              <a:buNone/>
            </a:pPr>
            <a:r>
              <a:rPr lang="en-US" sz="3600" b="1" dirty="0">
                <a:solidFill>
                  <a:schemeClr val="tx2"/>
                </a:solidFill>
                <a:latin typeface="Arial" pitchFamily="34" charset="0"/>
                <a:ea typeface="Arial" pitchFamily="34" charset="-122"/>
                <a:cs typeface="Arial" pitchFamily="34" charset="-120"/>
              </a:rPr>
              <a:t>Six checks running at once</a:t>
            </a:r>
            <a:endParaRPr lang="en-US" sz="3600" dirty="0"/>
          </a:p>
        </p:txBody>
      </p:sp>
      <p:sp>
        <p:nvSpPr>
          <p:cNvPr id="4" name="feature Blink counter"/>
          <p:cNvSpPr/>
          <p:nvPr/>
        </p:nvSpPr>
        <p:spPr>
          <a:xfrm>
            <a:off x="640080" y="1920240"/>
            <a:ext cx="3456432" cy="1874520"/>
          </a:xfrm>
          <a:prstGeom prst="roundRect">
            <a:avLst>
              <a:gd name="adj" fmla="val 7317"/>
            </a:avLst>
          </a:prstGeom>
          <a:solidFill>
            <a:schemeClr val="bg1"/>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914400" y="2194560"/>
            <a:ext cx="411480" cy="411480"/>
          </a:xfrm>
          <a:prstGeom prst="rect">
            <a:avLst/>
          </a:prstGeom>
        </p:spPr>
      </p:pic>
      <p:sp>
        <p:nvSpPr>
          <p:cNvPr id="6" name="Text 3"/>
          <p:cNvSpPr txBox="1"/>
          <p:nvPr/>
        </p:nvSpPr>
        <p:spPr>
          <a:xfrm>
            <a:off x="1508760" y="2176272"/>
            <a:ext cx="235915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Blink counter</a:t>
            </a:r>
            <a:endParaRPr lang="en-US" sz="2000" dirty="0"/>
          </a:p>
        </p:txBody>
      </p:sp>
      <p:sp>
        <p:nvSpPr>
          <p:cNvPr id="7" name="Text 4"/>
          <p:cNvSpPr txBox="1"/>
          <p:nvPr/>
        </p:nvSpPr>
        <p:spPr>
          <a:xfrm>
            <a:off x="914400" y="2788920"/>
            <a:ext cx="2907792" cy="868680"/>
          </a:xfrm>
          <a:prstGeom prst="rect">
            <a:avLst/>
          </a:prstGeom>
          <a:noFill/>
          <a:ln/>
        </p:spPr>
        <p:txBody>
          <a:bodyPr wrap="square" lIns="0" tIns="0" rIns="0" bIns="0" rtlCol="0" anchor="t"/>
          <a:lstStyle/>
          <a:p>
            <a:pPr indent="0" marL="0">
              <a:buNone/>
            </a:pPr>
            <a:r>
              <a:rPr lang="en-US" sz="1500" dirty="0">
                <a:solidFill>
                  <a:schemeClr val="accent5"/>
                </a:solidFill>
              </a:rPr>
              <a:t>Live blinks/min; warns below 7, strong alert below 5.</a:t>
            </a:r>
            <a:endParaRPr lang="en-US" sz="1500" dirty="0"/>
          </a:p>
        </p:txBody>
      </p:sp>
      <p:sp>
        <p:nvSpPr>
          <p:cNvPr id="8" name="feature Distance meter"/>
          <p:cNvSpPr/>
          <p:nvPr/>
        </p:nvSpPr>
        <p:spPr>
          <a:xfrm>
            <a:off x="4370832" y="1920240"/>
            <a:ext cx="3456432" cy="1874520"/>
          </a:xfrm>
          <a:prstGeom prst="roundRect">
            <a:avLst>
              <a:gd name="adj" fmla="val 7317"/>
            </a:avLst>
          </a:prstGeom>
          <a:solidFill>
            <a:schemeClr val="bg1"/>
          </a:solidFill>
          <a:ln w="12700">
            <a:solidFill>
              <a:schemeClr val="accent3"/>
            </a:solidFill>
            <a:prstDash val="solid"/>
          </a:ln>
        </p:spPr>
      </p:sp>
      <p:pic>
        <p:nvPicPr>
          <p:cNvPr id="9" name="Image 1" descr="preencoded.png">    </p:cNvPr>
          <p:cNvPicPr>
            <a:picLocks noChangeAspect="1"/>
          </p:cNvPicPr>
          <p:nvPr/>
        </p:nvPicPr>
        <p:blipFill>
          <a:blip r:embed="rId2"/>
          <a:stretch>
            <a:fillRect/>
          </a:stretch>
        </p:blipFill>
        <p:spPr>
          <a:xfrm>
            <a:off x="4645152" y="2194560"/>
            <a:ext cx="411480" cy="411480"/>
          </a:xfrm>
          <a:prstGeom prst="rect">
            <a:avLst/>
          </a:prstGeom>
        </p:spPr>
      </p:pic>
      <p:sp>
        <p:nvSpPr>
          <p:cNvPr id="10" name="Text 6"/>
          <p:cNvSpPr txBox="1"/>
          <p:nvPr/>
        </p:nvSpPr>
        <p:spPr>
          <a:xfrm>
            <a:off x="5239512" y="2176272"/>
            <a:ext cx="235915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Distance meter</a:t>
            </a:r>
            <a:endParaRPr lang="en-US" sz="2000" dirty="0"/>
          </a:p>
        </p:txBody>
      </p:sp>
      <p:sp>
        <p:nvSpPr>
          <p:cNvPr id="11" name="Text 7"/>
          <p:cNvSpPr txBox="1"/>
          <p:nvPr/>
        </p:nvSpPr>
        <p:spPr>
          <a:xfrm>
            <a:off x="4645152" y="2788920"/>
            <a:ext cx="2907792" cy="868680"/>
          </a:xfrm>
          <a:prstGeom prst="rect">
            <a:avLst/>
          </a:prstGeom>
          <a:noFill/>
          <a:ln/>
        </p:spPr>
        <p:txBody>
          <a:bodyPr wrap="square" lIns="0" tIns="0" rIns="0" bIns="0" rtlCol="0" anchor="t"/>
          <a:lstStyle/>
          <a:p>
            <a:pPr indent="0" marL="0">
              <a:buNone/>
            </a:pPr>
            <a:r>
              <a:rPr lang="en-US" sz="1500" dirty="0">
                <a:solidFill>
                  <a:schemeClr val="accent5"/>
                </a:solidFill>
              </a:rPr>
              <a:t>"Too close" alert under 50 cm.</a:t>
            </a:r>
            <a:endParaRPr lang="en-US" sz="1500" dirty="0"/>
          </a:p>
        </p:txBody>
      </p:sp>
      <p:sp>
        <p:nvSpPr>
          <p:cNvPr id="12" name="feature 20-20-20 breaks"/>
          <p:cNvSpPr/>
          <p:nvPr/>
        </p:nvSpPr>
        <p:spPr>
          <a:xfrm>
            <a:off x="8101584" y="1920240"/>
            <a:ext cx="3456432" cy="1874520"/>
          </a:xfrm>
          <a:prstGeom prst="roundRect">
            <a:avLst>
              <a:gd name="adj" fmla="val 7317"/>
            </a:avLst>
          </a:prstGeom>
          <a:solidFill>
            <a:schemeClr val="bg1"/>
          </a:solidFill>
          <a:ln w="12700">
            <a:solidFill>
              <a:schemeClr val="accent3"/>
            </a:solidFill>
            <a:prstDash val="solid"/>
          </a:ln>
        </p:spPr>
      </p:sp>
      <p:pic>
        <p:nvPicPr>
          <p:cNvPr id="13" name="Image 2" descr="preencoded.png">    </p:cNvPr>
          <p:cNvPicPr>
            <a:picLocks noChangeAspect="1"/>
          </p:cNvPicPr>
          <p:nvPr/>
        </p:nvPicPr>
        <p:blipFill>
          <a:blip r:embed="rId3"/>
          <a:stretch>
            <a:fillRect/>
          </a:stretch>
        </p:blipFill>
        <p:spPr>
          <a:xfrm>
            <a:off x="8375904" y="2194560"/>
            <a:ext cx="411480" cy="411480"/>
          </a:xfrm>
          <a:prstGeom prst="rect">
            <a:avLst/>
          </a:prstGeom>
        </p:spPr>
      </p:pic>
      <p:sp>
        <p:nvSpPr>
          <p:cNvPr id="14" name="Text 9"/>
          <p:cNvSpPr txBox="1"/>
          <p:nvPr/>
        </p:nvSpPr>
        <p:spPr>
          <a:xfrm>
            <a:off x="8970264" y="2176272"/>
            <a:ext cx="235915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20-20-20 breaks</a:t>
            </a:r>
            <a:endParaRPr lang="en-US" sz="2000" dirty="0"/>
          </a:p>
        </p:txBody>
      </p:sp>
      <p:sp>
        <p:nvSpPr>
          <p:cNvPr id="15" name="Text 10"/>
          <p:cNvSpPr txBox="1"/>
          <p:nvPr/>
        </p:nvSpPr>
        <p:spPr>
          <a:xfrm>
            <a:off x="8375904" y="2788920"/>
            <a:ext cx="2907792" cy="868680"/>
          </a:xfrm>
          <a:prstGeom prst="rect">
            <a:avLst/>
          </a:prstGeom>
          <a:noFill/>
          <a:ln/>
        </p:spPr>
        <p:txBody>
          <a:bodyPr wrap="square" lIns="0" tIns="0" rIns="0" bIns="0" rtlCol="0" anchor="t"/>
          <a:lstStyle/>
          <a:p>
            <a:pPr indent="0" marL="0">
              <a:buNone/>
            </a:pPr>
            <a:r>
              <a:rPr lang="en-US" sz="1500" dirty="0">
                <a:solidFill>
                  <a:schemeClr val="accent5"/>
                </a:solidFill>
              </a:rPr>
              <a:t>Every 20 minutes, look 20 feet away for 20 seconds.</a:t>
            </a:r>
            <a:endParaRPr lang="en-US" sz="1500" dirty="0"/>
          </a:p>
        </p:txBody>
      </p:sp>
      <p:sp>
        <p:nvSpPr>
          <p:cNvPr id="16" name="feature Drowsiness"/>
          <p:cNvSpPr/>
          <p:nvPr/>
        </p:nvSpPr>
        <p:spPr>
          <a:xfrm>
            <a:off x="640080" y="4069080"/>
            <a:ext cx="3456432" cy="1874520"/>
          </a:xfrm>
          <a:prstGeom prst="roundRect">
            <a:avLst>
              <a:gd name="adj" fmla="val 7317"/>
            </a:avLst>
          </a:prstGeom>
          <a:solidFill>
            <a:schemeClr val="bg1"/>
          </a:solidFill>
          <a:ln w="12700">
            <a:solidFill>
              <a:schemeClr val="accent3"/>
            </a:solidFill>
            <a:prstDash val="solid"/>
          </a:ln>
        </p:spPr>
      </p:sp>
      <p:pic>
        <p:nvPicPr>
          <p:cNvPr id="17" name="Image 3" descr="preencoded.png">    </p:cNvPr>
          <p:cNvPicPr>
            <a:picLocks noChangeAspect="1"/>
          </p:cNvPicPr>
          <p:nvPr/>
        </p:nvPicPr>
        <p:blipFill>
          <a:blip r:embed="rId4"/>
          <a:stretch>
            <a:fillRect/>
          </a:stretch>
        </p:blipFill>
        <p:spPr>
          <a:xfrm>
            <a:off x="914400" y="4343400"/>
            <a:ext cx="411480" cy="411480"/>
          </a:xfrm>
          <a:prstGeom prst="rect">
            <a:avLst/>
          </a:prstGeom>
        </p:spPr>
      </p:pic>
      <p:sp>
        <p:nvSpPr>
          <p:cNvPr id="18" name="Text 12"/>
          <p:cNvSpPr txBox="1"/>
          <p:nvPr/>
        </p:nvSpPr>
        <p:spPr>
          <a:xfrm>
            <a:off x="1508760" y="4325112"/>
            <a:ext cx="235915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Drowsiness</a:t>
            </a:r>
            <a:endParaRPr lang="en-US" sz="2000" dirty="0"/>
          </a:p>
        </p:txBody>
      </p:sp>
      <p:sp>
        <p:nvSpPr>
          <p:cNvPr id="19" name="Text 13"/>
          <p:cNvSpPr txBox="1"/>
          <p:nvPr/>
        </p:nvSpPr>
        <p:spPr>
          <a:xfrm>
            <a:off x="914400" y="4937760"/>
            <a:ext cx="2907792" cy="868680"/>
          </a:xfrm>
          <a:prstGeom prst="rect">
            <a:avLst/>
          </a:prstGeom>
          <a:noFill/>
          <a:ln/>
        </p:spPr>
        <p:txBody>
          <a:bodyPr wrap="square" lIns="0" tIns="0" rIns="0" bIns="0" rtlCol="0" anchor="t"/>
          <a:lstStyle/>
          <a:p>
            <a:pPr indent="0" marL="0">
              <a:buNone/>
            </a:pPr>
            <a:r>
              <a:rPr lang="en-US" sz="1500" dirty="0">
                <a:solidFill>
                  <a:schemeClr val="accent5"/>
                </a:solidFill>
              </a:rPr>
              <a:t>Eyes closed over 2 seconds triggers a rest alert.</a:t>
            </a:r>
            <a:endParaRPr lang="en-US" sz="1500" dirty="0"/>
          </a:p>
        </p:txBody>
      </p:sp>
      <p:sp>
        <p:nvSpPr>
          <p:cNvPr id="20" name="feature Posture and light"/>
          <p:cNvSpPr/>
          <p:nvPr/>
        </p:nvSpPr>
        <p:spPr>
          <a:xfrm>
            <a:off x="4370832" y="4069080"/>
            <a:ext cx="3456432" cy="1874520"/>
          </a:xfrm>
          <a:prstGeom prst="roundRect">
            <a:avLst>
              <a:gd name="adj" fmla="val 7317"/>
            </a:avLst>
          </a:prstGeom>
          <a:solidFill>
            <a:schemeClr val="bg1"/>
          </a:solidFill>
          <a:ln w="12700">
            <a:solidFill>
              <a:schemeClr val="accent3"/>
            </a:solidFill>
            <a:prstDash val="solid"/>
          </a:ln>
        </p:spPr>
      </p:sp>
      <p:pic>
        <p:nvPicPr>
          <p:cNvPr id="21" name="Image 4" descr="preencoded.png">    </p:cNvPr>
          <p:cNvPicPr>
            <a:picLocks noChangeAspect="1"/>
          </p:cNvPicPr>
          <p:nvPr/>
        </p:nvPicPr>
        <p:blipFill>
          <a:blip r:embed="rId5"/>
          <a:stretch>
            <a:fillRect/>
          </a:stretch>
        </p:blipFill>
        <p:spPr>
          <a:xfrm>
            <a:off x="4645152" y="4343400"/>
            <a:ext cx="411480" cy="411480"/>
          </a:xfrm>
          <a:prstGeom prst="rect">
            <a:avLst/>
          </a:prstGeom>
        </p:spPr>
      </p:pic>
      <p:sp>
        <p:nvSpPr>
          <p:cNvPr id="22" name="Text 15"/>
          <p:cNvSpPr txBox="1"/>
          <p:nvPr/>
        </p:nvSpPr>
        <p:spPr>
          <a:xfrm>
            <a:off x="5239512" y="4325112"/>
            <a:ext cx="235915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Posture and light</a:t>
            </a:r>
            <a:endParaRPr lang="en-US" sz="2000" dirty="0"/>
          </a:p>
        </p:txBody>
      </p:sp>
      <p:sp>
        <p:nvSpPr>
          <p:cNvPr id="23" name="Text 16"/>
          <p:cNvSpPr txBox="1"/>
          <p:nvPr/>
        </p:nvSpPr>
        <p:spPr>
          <a:xfrm>
            <a:off x="4645152" y="4937760"/>
            <a:ext cx="2907792" cy="868680"/>
          </a:xfrm>
          <a:prstGeom prst="rect">
            <a:avLst/>
          </a:prstGeom>
          <a:noFill/>
          <a:ln/>
        </p:spPr>
        <p:txBody>
          <a:bodyPr wrap="square" lIns="0" tIns="0" rIns="0" bIns="0" rtlCol="0" anchor="t"/>
          <a:lstStyle/>
          <a:p>
            <a:pPr indent="0" marL="0">
              <a:buNone/>
            </a:pPr>
            <a:r>
              <a:rPr lang="en-US" sz="1500" dirty="0">
                <a:solidFill>
                  <a:schemeClr val="accent5"/>
                </a:solidFill>
              </a:rPr>
              <a:t>Warns on head tilt and dark rooms.</a:t>
            </a:r>
            <a:endParaRPr lang="en-US" sz="1500" dirty="0"/>
          </a:p>
        </p:txBody>
      </p:sp>
      <p:sp>
        <p:nvSpPr>
          <p:cNvPr id="24" name="feature Strain score"/>
          <p:cNvSpPr/>
          <p:nvPr/>
        </p:nvSpPr>
        <p:spPr>
          <a:xfrm>
            <a:off x="8101584" y="4069080"/>
            <a:ext cx="3456432" cy="1874520"/>
          </a:xfrm>
          <a:prstGeom prst="roundRect">
            <a:avLst>
              <a:gd name="adj" fmla="val 7317"/>
            </a:avLst>
          </a:prstGeom>
          <a:solidFill>
            <a:schemeClr val="tx2"/>
          </a:solidFill>
          <a:ln/>
        </p:spPr>
      </p:sp>
      <p:pic>
        <p:nvPicPr>
          <p:cNvPr id="25" name="Image 5" descr="preencoded.png">    </p:cNvPr>
          <p:cNvPicPr>
            <a:picLocks noChangeAspect="1"/>
          </p:cNvPicPr>
          <p:nvPr/>
        </p:nvPicPr>
        <p:blipFill>
          <a:blip r:embed="rId6"/>
          <a:stretch>
            <a:fillRect/>
          </a:stretch>
        </p:blipFill>
        <p:spPr>
          <a:xfrm>
            <a:off x="8375904" y="4343400"/>
            <a:ext cx="411480" cy="411480"/>
          </a:xfrm>
          <a:prstGeom prst="rect">
            <a:avLst/>
          </a:prstGeom>
        </p:spPr>
      </p:pic>
      <p:sp>
        <p:nvSpPr>
          <p:cNvPr id="26" name="Text 18"/>
          <p:cNvSpPr txBox="1"/>
          <p:nvPr/>
        </p:nvSpPr>
        <p:spPr>
          <a:xfrm>
            <a:off x="8970264" y="4325112"/>
            <a:ext cx="2359152" cy="457200"/>
          </a:xfrm>
          <a:prstGeom prst="rect">
            <a:avLst/>
          </a:prstGeom>
          <a:noFill/>
          <a:ln/>
        </p:spPr>
        <p:txBody>
          <a:bodyPr wrap="square" lIns="0" tIns="0" rIns="0" bIns="0" rtlCol="0" anchor="ctr"/>
          <a:lstStyle/>
          <a:p>
            <a:pPr indent="0" marL="0">
              <a:buNone/>
            </a:pPr>
            <a:r>
              <a:rPr lang="en-US" sz="2000" b="1" dirty="0">
                <a:solidFill>
                  <a:schemeClr val="bg1"/>
                </a:solidFill>
                <a:latin typeface="Arial" pitchFamily="34" charset="0"/>
                <a:ea typeface="Arial" pitchFamily="34" charset="-122"/>
                <a:cs typeface="Arial" pitchFamily="34" charset="-120"/>
              </a:rPr>
              <a:t>Strain score</a:t>
            </a:r>
            <a:endParaRPr lang="en-US" sz="2000" dirty="0"/>
          </a:p>
        </p:txBody>
      </p:sp>
      <p:sp>
        <p:nvSpPr>
          <p:cNvPr id="27" name="Text 19"/>
          <p:cNvSpPr txBox="1"/>
          <p:nvPr/>
        </p:nvSpPr>
        <p:spPr>
          <a:xfrm>
            <a:off x="8375904" y="4937760"/>
            <a:ext cx="2907792" cy="868680"/>
          </a:xfrm>
          <a:prstGeom prst="rect">
            <a:avLst/>
          </a:prstGeom>
          <a:noFill/>
          <a:ln/>
        </p:spPr>
        <p:txBody>
          <a:bodyPr wrap="square" lIns="0" tIns="0" rIns="0" bIns="0" rtlCol="0" anchor="t"/>
          <a:lstStyle/>
          <a:p>
            <a:pPr indent="0" marL="0">
              <a:buNone/>
            </a:pPr>
            <a:r>
              <a:rPr lang="en-US" sz="1500" dirty="0">
                <a:solidFill>
                  <a:schemeClr val="accent3"/>
                </a:solidFill>
              </a:rPr>
              <a:t>One 0–100 number, plus a session report with tips.</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lIns="0" tIns="0" rIns="0" bIns="0" rtlCol="0"/>
          <a:lstStyle/>
          <a:p>
            <a:pPr indent="0" marL="0">
              <a:buNone/>
            </a:pPr>
            <a:r>
              <a:rPr lang="en-US" sz="1400" b="1" spc="200" kern="0" dirty="0">
                <a:solidFill>
                  <a:schemeClr val="accent6"/>
                </a:solidFill>
              </a:rPr>
              <a:t>THE SCIENCE BEHIND IT</a:t>
            </a: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lIns="0" tIns="0" rIns="0" bIns="0" rtlCol="0" anchor="t"/>
          <a:lstStyle/>
          <a:p>
            <a:pPr algn="l" indent="0" marL="0">
              <a:buNone/>
            </a:pPr>
            <a:r>
              <a:rPr lang="en-US" sz="3600" b="1" dirty="0">
                <a:solidFill>
                  <a:schemeClr val="tx2"/>
                </a:solidFill>
                <a:latin typeface="Arial" pitchFamily="34" charset="0"/>
                <a:ea typeface="Arial" pitchFamily="34" charset="-122"/>
                <a:cs typeface="Arial" pitchFamily="34" charset="-120"/>
              </a:rPr>
              <a:t>Two simple formulas do the heavy lifting</a:t>
            </a:r>
            <a:endParaRPr lang="en-US" sz="3600" dirty="0"/>
          </a:p>
        </p:txBody>
      </p:sp>
      <p:sp>
        <p:nvSpPr>
          <p:cNvPr id="4" name="formula 0"/>
          <p:cNvSpPr/>
          <p:nvPr/>
        </p:nvSpPr>
        <p:spPr>
          <a:xfrm>
            <a:off x="640080" y="2011680"/>
            <a:ext cx="5303520" cy="3657600"/>
          </a:xfrm>
          <a:prstGeom prst="roundRect">
            <a:avLst>
              <a:gd name="adj" fmla="val 3750"/>
            </a:avLst>
          </a:prstGeom>
          <a:solidFill>
            <a:schemeClr val="bg1"/>
          </a:solidFill>
          <a:ln w="12700">
            <a:solidFill>
              <a:schemeClr val="accent3"/>
            </a:solidFill>
            <a:prstDash val="solid"/>
          </a:ln>
        </p:spPr>
      </p:sp>
      <p:sp>
        <p:nvSpPr>
          <p:cNvPr id="5" name="Text 3"/>
          <p:cNvSpPr txBox="1"/>
          <p:nvPr/>
        </p:nvSpPr>
        <p:spPr>
          <a:xfrm>
            <a:off x="1005840" y="2331720"/>
            <a:ext cx="4572000" cy="457200"/>
          </a:xfrm>
          <a:prstGeom prst="rect">
            <a:avLst/>
          </a:prstGeom>
          <a:noFill/>
          <a:ln/>
        </p:spPr>
        <p:txBody>
          <a:bodyPr wrap="square" lIns="0" tIns="0" rIns="0" bIns="0" rtlCol="0" anchor="ctr"/>
          <a:lstStyle/>
          <a:p>
            <a:pPr indent="0" marL="0">
              <a:buNone/>
            </a:pPr>
            <a:r>
              <a:rPr lang="en-US" sz="2200" b="1" dirty="0">
                <a:solidFill>
                  <a:schemeClr val="tx2"/>
                </a:solidFill>
                <a:latin typeface="Arial" pitchFamily="34" charset="0"/>
                <a:ea typeface="Arial" pitchFamily="34" charset="-122"/>
                <a:cs typeface="Arial" pitchFamily="34" charset="-120"/>
              </a:rPr>
              <a:t>Blinks: Eye Aspect Ratio</a:t>
            </a:r>
            <a:endParaRPr lang="en-US" sz="2200" dirty="0"/>
          </a:p>
        </p:txBody>
      </p:sp>
      <p:sp>
        <p:nvSpPr>
          <p:cNvPr id="6" name="formula box 0"/>
          <p:cNvSpPr/>
          <p:nvPr/>
        </p:nvSpPr>
        <p:spPr>
          <a:xfrm>
            <a:off x="1005840" y="2926080"/>
            <a:ext cx="4572000" cy="640080"/>
          </a:xfrm>
          <a:prstGeom prst="roundRect">
            <a:avLst>
              <a:gd name="adj" fmla="val 14286"/>
            </a:avLst>
          </a:prstGeom>
          <a:solidFill>
            <a:schemeClr val="accent4"/>
          </a:solidFill>
          <a:ln/>
        </p:spPr>
      </p:sp>
      <p:sp>
        <p:nvSpPr>
          <p:cNvPr id="7" name="Text 5"/>
          <p:cNvSpPr txBox="1"/>
          <p:nvPr/>
        </p:nvSpPr>
        <p:spPr>
          <a:xfrm>
            <a:off x="1188720" y="2926080"/>
            <a:ext cx="4206240" cy="640080"/>
          </a:xfrm>
          <a:prstGeom prst="rect">
            <a:avLst/>
          </a:prstGeom>
          <a:noFill/>
          <a:ln/>
        </p:spPr>
        <p:txBody>
          <a:bodyPr wrap="square" lIns="0" tIns="0" rIns="0" bIns="0" rtlCol="0" anchor="ctr"/>
          <a:lstStyle/>
          <a:p>
            <a:pPr indent="0" marL="0">
              <a:buNone/>
            </a:pPr>
            <a:r>
              <a:rPr lang="en-US" sz="1800" b="1" dirty="0">
                <a:solidFill>
                  <a:schemeClr val="tx2"/>
                </a:solidFill>
                <a:latin typeface="Courier New" pitchFamily="34" charset="0"/>
                <a:ea typeface="Courier New" pitchFamily="34" charset="-122"/>
                <a:cs typeface="Courier New" pitchFamily="34" charset="-120"/>
              </a:rPr>
              <a:t>EAR = eye height ÷ eye width</a:t>
            </a:r>
            <a:endParaRPr lang="en-US" sz="1800" dirty="0"/>
          </a:p>
        </p:txBody>
      </p:sp>
      <p:sp>
        <p:nvSpPr>
          <p:cNvPr id="8" name="Text 6"/>
          <p:cNvSpPr txBox="1"/>
          <p:nvPr/>
        </p:nvSpPr>
        <p:spPr>
          <a:xfrm>
            <a:off x="1005840" y="3794760"/>
            <a:ext cx="4572000" cy="1737360"/>
          </a:xfrm>
          <a:prstGeom prst="rect">
            <a:avLst/>
          </a:prstGeom>
          <a:noFill/>
          <a:ln/>
        </p:spPr>
        <p:txBody>
          <a:bodyPr wrap="square" lIns="0" tIns="0" rIns="0" bIns="0" rtlCol="0" anchor="t"/>
          <a:lstStyle/>
          <a:p>
            <a:pPr indent="0" marL="0">
              <a:buNone/>
            </a:pPr>
            <a:r>
              <a:rPr lang="en-US" sz="1500" dirty="0">
                <a:solidFill>
                  <a:schemeClr val="accent5"/>
                </a:solidFill>
              </a:rPr>
              <a:t>6 points around each eye. An open eye gives about 0.3; a closed eye drops sharply. A short dip below the threshold counts as one blink. The threshold is tuned to each user in the first 3 seconds.</a:t>
            </a:r>
            <a:endParaRPr lang="en-US" sz="1500" dirty="0"/>
          </a:p>
        </p:txBody>
      </p:sp>
      <p:sp>
        <p:nvSpPr>
          <p:cNvPr id="9" name="formula 1"/>
          <p:cNvSpPr/>
          <p:nvPr/>
        </p:nvSpPr>
        <p:spPr>
          <a:xfrm>
            <a:off x="6245352" y="2011680"/>
            <a:ext cx="5303520" cy="3657600"/>
          </a:xfrm>
          <a:prstGeom prst="roundRect">
            <a:avLst>
              <a:gd name="adj" fmla="val 3750"/>
            </a:avLst>
          </a:prstGeom>
          <a:solidFill>
            <a:schemeClr val="bg1"/>
          </a:solidFill>
          <a:ln w="12700">
            <a:solidFill>
              <a:schemeClr val="accent3"/>
            </a:solidFill>
            <a:prstDash val="solid"/>
          </a:ln>
        </p:spPr>
      </p:sp>
      <p:sp>
        <p:nvSpPr>
          <p:cNvPr id="10" name="Text 8"/>
          <p:cNvSpPr txBox="1"/>
          <p:nvPr/>
        </p:nvSpPr>
        <p:spPr>
          <a:xfrm>
            <a:off x="6611112" y="2331720"/>
            <a:ext cx="4572000" cy="457200"/>
          </a:xfrm>
          <a:prstGeom prst="rect">
            <a:avLst/>
          </a:prstGeom>
          <a:noFill/>
          <a:ln/>
        </p:spPr>
        <p:txBody>
          <a:bodyPr wrap="square" lIns="0" tIns="0" rIns="0" bIns="0" rtlCol="0" anchor="ctr"/>
          <a:lstStyle/>
          <a:p>
            <a:pPr indent="0" marL="0">
              <a:buNone/>
            </a:pPr>
            <a:r>
              <a:rPr lang="en-US" sz="2200" b="1" dirty="0">
                <a:solidFill>
                  <a:schemeClr val="tx2"/>
                </a:solidFill>
                <a:latin typeface="Arial" pitchFamily="34" charset="0"/>
                <a:ea typeface="Arial" pitchFamily="34" charset="-122"/>
                <a:cs typeface="Arial" pitchFamily="34" charset="-120"/>
              </a:rPr>
              <a:t>Distance: the iris trick</a:t>
            </a:r>
            <a:endParaRPr lang="en-US" sz="2200" dirty="0"/>
          </a:p>
        </p:txBody>
      </p:sp>
      <p:sp>
        <p:nvSpPr>
          <p:cNvPr id="11" name="formula box 1"/>
          <p:cNvSpPr/>
          <p:nvPr/>
        </p:nvSpPr>
        <p:spPr>
          <a:xfrm>
            <a:off x="6611112" y="2926080"/>
            <a:ext cx="4572000" cy="640080"/>
          </a:xfrm>
          <a:prstGeom prst="roundRect">
            <a:avLst>
              <a:gd name="adj" fmla="val 14286"/>
            </a:avLst>
          </a:prstGeom>
          <a:solidFill>
            <a:schemeClr val="accent4"/>
          </a:solidFill>
          <a:ln/>
        </p:spPr>
      </p:sp>
      <p:sp>
        <p:nvSpPr>
          <p:cNvPr id="12" name="Text 10"/>
          <p:cNvSpPr txBox="1"/>
          <p:nvPr/>
        </p:nvSpPr>
        <p:spPr>
          <a:xfrm>
            <a:off x="6793992" y="2926080"/>
            <a:ext cx="4206240" cy="640080"/>
          </a:xfrm>
          <a:prstGeom prst="rect">
            <a:avLst/>
          </a:prstGeom>
          <a:noFill/>
          <a:ln/>
        </p:spPr>
        <p:txBody>
          <a:bodyPr wrap="square" lIns="0" tIns="0" rIns="0" bIns="0" rtlCol="0" anchor="ctr"/>
          <a:lstStyle/>
          <a:p>
            <a:pPr indent="0" marL="0">
              <a:buNone/>
            </a:pPr>
            <a:r>
              <a:rPr lang="en-US" sz="1800" b="1" dirty="0">
                <a:solidFill>
                  <a:schemeClr val="tx2"/>
                </a:solidFill>
                <a:latin typeface="Courier New" pitchFamily="34" charset="0"/>
                <a:ea typeface="Courier New" pitchFamily="34" charset="-122"/>
                <a:cs typeface="Courier New" pitchFamily="34" charset="-120"/>
              </a:rPr>
              <a:t>d = f × 1.17 cm ÷ iris px</a:t>
            </a:r>
            <a:endParaRPr lang="en-US" sz="1800" dirty="0"/>
          </a:p>
        </p:txBody>
      </p:sp>
      <p:sp>
        <p:nvSpPr>
          <p:cNvPr id="13" name="Text 11"/>
          <p:cNvSpPr txBox="1"/>
          <p:nvPr/>
        </p:nvSpPr>
        <p:spPr>
          <a:xfrm>
            <a:off x="6611112" y="3794760"/>
            <a:ext cx="4572000" cy="1737360"/>
          </a:xfrm>
          <a:prstGeom prst="rect">
            <a:avLst/>
          </a:prstGeom>
          <a:noFill/>
          <a:ln/>
        </p:spPr>
        <p:txBody>
          <a:bodyPr wrap="square" lIns="0" tIns="0" rIns="0" bIns="0" rtlCol="0" anchor="t"/>
          <a:lstStyle/>
          <a:p>
            <a:pPr indent="0" marL="0">
              <a:buNone/>
            </a:pPr>
            <a:r>
              <a:rPr lang="en-US" sz="1500" dirty="0">
                <a:solidFill>
                  <a:schemeClr val="accent5"/>
                </a:solidFill>
              </a:rPr>
              <a:t>The human iris is about 11.7 mm wide in almost every adult. The smaller it looks on camera, the farther away you are. One calibration at 50 cm makes it accurate.</a:t>
            </a:r>
            <a:endParaRPr lang="en-US" sz="1500" dirty="0"/>
          </a:p>
        </p:txBody>
      </p:sp>
      <p:sp>
        <p:nvSpPr>
          <p:cNvPr id="14" name="Text 12"/>
          <p:cNvSpPr txBox="1"/>
          <p:nvPr/>
        </p:nvSpPr>
        <p:spPr>
          <a:xfrm>
            <a:off x="640080" y="5852160"/>
            <a:ext cx="10881360" cy="365760"/>
          </a:xfrm>
          <a:prstGeom prst="rect">
            <a:avLst/>
          </a:prstGeom>
          <a:noFill/>
          <a:ln/>
        </p:spPr>
        <p:txBody>
          <a:bodyPr wrap="square" lIns="0" tIns="0" rIns="0" bIns="0" rtlCol="0" anchor="ctr"/>
          <a:lstStyle/>
          <a:p>
            <a:pPr indent="0" marL="0">
              <a:buNone/>
            </a:pPr>
            <a:r>
              <a:rPr lang="en-US" sz="1400" i="1" dirty="0">
                <a:solidFill>
                  <a:schemeClr val="accent2"/>
                </a:solidFill>
              </a:rPr>
              <a:t>Strain score = low blinks (40) + too close (30) + time since break (20) + drowsiness (10)</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lIns="0" tIns="0" rIns="0" bIns="0" rtlCol="0"/>
          <a:lstStyle/>
          <a:p>
            <a:pPr indent="0" marL="0">
              <a:buNone/>
            </a:pPr>
            <a:r>
              <a:rPr lang="en-US" sz="1400" b="1" spc="200" kern="0" dirty="0">
                <a:solidFill>
                  <a:schemeClr val="accent6"/>
                </a:solidFill>
              </a:rPr>
              <a:t>BUILT FOR GLASSES WEARERS</a:t>
            </a: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lIns="0" tIns="0" rIns="0" bIns="0" rtlCol="0" anchor="t"/>
          <a:lstStyle/>
          <a:p>
            <a:pPr algn="l" indent="0" marL="0">
              <a:buNone/>
            </a:pPr>
            <a:r>
              <a:rPr lang="en-US" sz="3600" b="1" dirty="0">
                <a:solidFill>
                  <a:schemeClr val="tx2"/>
                </a:solidFill>
                <a:latin typeface="Arial" pitchFamily="34" charset="0"/>
                <a:ea typeface="Arial" pitchFamily="34" charset="-122"/>
                <a:cs typeface="Arial" pitchFamily="34" charset="-120"/>
              </a:rPr>
              <a:t>Eye power changes what the camera sees</a:t>
            </a:r>
            <a:endParaRPr lang="en-US" sz="3600" dirty="0"/>
          </a:p>
        </p:txBody>
      </p:sp>
      <p:sp>
        <p:nvSpPr>
          <p:cNvPr id="4" name="Text 2"/>
          <p:cNvSpPr txBox="1"/>
          <p:nvPr/>
        </p:nvSpPr>
        <p:spPr>
          <a:xfrm>
            <a:off x="640080" y="2011680"/>
            <a:ext cx="6309360" cy="1371600"/>
          </a:xfrm>
          <a:prstGeom prst="rect">
            <a:avLst/>
          </a:prstGeom>
          <a:noFill/>
          <a:ln/>
        </p:spPr>
        <p:txBody>
          <a:bodyPr wrap="square" lIns="0" tIns="0" rIns="0" bIns="0" rtlCol="0" anchor="t"/>
          <a:lstStyle/>
          <a:p>
            <a:pPr indent="0" marL="0">
              <a:buNone/>
            </a:pPr>
            <a:r>
              <a:rPr lang="en-US" sz="1500" dirty="0">
                <a:solidFill>
                  <a:schemeClr val="tx1"/>
                </a:solidFill>
              </a:rPr>
              <a:t>Glasses change how big the iris looks on camera. Minus lenses (short sight) make the eyes look smaller, so distance is over-estimated and "Too close" warnings would be missed. EyeGuard stores each user's correction and fixes this.</a:t>
            </a:r>
            <a:endParaRPr lang="en-US" sz="1500" dirty="0"/>
          </a:p>
        </p:txBody>
      </p:sp>
      <p:sp>
        <p:nvSpPr>
          <p:cNvPr id="5" name="lens formula box"/>
          <p:cNvSpPr/>
          <p:nvPr/>
        </p:nvSpPr>
        <p:spPr>
          <a:xfrm>
            <a:off x="640080" y="3474720"/>
            <a:ext cx="6309360" cy="640080"/>
          </a:xfrm>
          <a:prstGeom prst="roundRect">
            <a:avLst>
              <a:gd name="adj" fmla="val 14286"/>
            </a:avLst>
          </a:prstGeom>
          <a:solidFill>
            <a:schemeClr val="accent4"/>
          </a:solidFill>
          <a:ln/>
        </p:spPr>
      </p:sp>
      <p:sp>
        <p:nvSpPr>
          <p:cNvPr id="6" name="Text 4"/>
          <p:cNvSpPr txBox="1"/>
          <p:nvPr/>
        </p:nvSpPr>
        <p:spPr>
          <a:xfrm>
            <a:off x="868680" y="3474720"/>
            <a:ext cx="5943600" cy="640080"/>
          </a:xfrm>
          <a:prstGeom prst="rect">
            <a:avLst/>
          </a:prstGeom>
          <a:noFill/>
          <a:ln/>
        </p:spPr>
        <p:txBody>
          <a:bodyPr wrap="square" lIns="0" tIns="0" rIns="0" bIns="0" rtlCol="0" anchor="ctr"/>
          <a:lstStyle/>
          <a:p>
            <a:pPr indent="0" marL="0">
              <a:buNone/>
            </a:pPr>
            <a:r>
              <a:rPr lang="en-US" sz="1600" b="1" dirty="0">
                <a:solidFill>
                  <a:schemeClr val="tx2"/>
                </a:solidFill>
                <a:latin typeface="Courier New" pitchFamily="34" charset="0"/>
                <a:ea typeface="Courier New" pitchFamily="34" charset="-122"/>
                <a:cs typeface="Courier New" pitchFamily="34" charset="-120"/>
              </a:rPr>
              <a:t>m = 1 ÷ (1 − 0.015 × P)   →   distance × m</a:t>
            </a:r>
            <a:endParaRPr lang="en-US" sz="1600" dirty="0"/>
          </a:p>
        </p:txBody>
      </p:sp>
      <p:pic>
        <p:nvPicPr>
          <p:cNvPr id="7" name="Image 0" descr="preencoded.png">    </p:cNvPr>
          <p:cNvPicPr>
            <a:picLocks noChangeAspect="1"/>
          </p:cNvPicPr>
          <p:nvPr/>
        </p:nvPicPr>
        <p:blipFill>
          <a:blip r:embed="rId1"/>
          <a:stretch>
            <a:fillRect/>
          </a:stretch>
        </p:blipFill>
        <p:spPr>
          <a:xfrm>
            <a:off x="640080" y="4389120"/>
            <a:ext cx="365760" cy="365760"/>
          </a:xfrm>
          <a:prstGeom prst="rect">
            <a:avLst/>
          </a:prstGeom>
        </p:spPr>
      </p:pic>
      <p:sp>
        <p:nvSpPr>
          <p:cNvPr id="8" name="Text 5"/>
          <p:cNvSpPr txBox="1"/>
          <p:nvPr/>
        </p:nvSpPr>
        <p:spPr>
          <a:xfrm>
            <a:off x="1188720" y="4343400"/>
            <a:ext cx="5760720" cy="457200"/>
          </a:xfrm>
          <a:prstGeom prst="rect">
            <a:avLst/>
          </a:prstGeom>
          <a:noFill/>
          <a:ln/>
        </p:spPr>
        <p:txBody>
          <a:bodyPr wrap="square" lIns="0" tIns="0" rIns="0" bIns="0" rtlCol="0" anchor="ctr"/>
          <a:lstStyle/>
          <a:p>
            <a:pPr indent="0" marL="0">
              <a:buNone/>
            </a:pPr>
            <a:r>
              <a:rPr lang="en-US" sz="1500" b="1" dirty="0">
                <a:solidFill>
                  <a:schemeClr val="tx2"/>
                </a:solidFill>
              </a:rPr>
              <a:t>Profiles: </a:t>
            </a:r>
            <a:pPr indent="0" marL="0">
              <a:buNone/>
            </a:pPr>
            <a:r>
              <a:rPr lang="en-US" sz="1500" dirty="0">
                <a:solidFill>
                  <a:schemeClr val="accent5"/>
                </a:solidFill>
              </a:rPr>
              <a:t>Glasses, contacts or none, plus power (e.g. −7.00 D)</a:t>
            </a:r>
            <a:endParaRPr lang="en-US" sz="1500" dirty="0"/>
          </a:p>
        </p:txBody>
      </p:sp>
      <p:pic>
        <p:nvPicPr>
          <p:cNvPr id="9" name="Image 1" descr="preencoded.png">    </p:cNvPr>
          <p:cNvPicPr>
            <a:picLocks noChangeAspect="1"/>
          </p:cNvPicPr>
          <p:nvPr/>
        </p:nvPicPr>
        <p:blipFill>
          <a:blip r:embed="rId2"/>
          <a:stretch>
            <a:fillRect/>
          </a:stretch>
        </p:blipFill>
        <p:spPr>
          <a:xfrm>
            <a:off x="640080" y="5010912"/>
            <a:ext cx="365760" cy="365760"/>
          </a:xfrm>
          <a:prstGeom prst="rect">
            <a:avLst/>
          </a:prstGeom>
        </p:spPr>
      </p:pic>
      <p:sp>
        <p:nvSpPr>
          <p:cNvPr id="10" name="Text 6"/>
          <p:cNvSpPr txBox="1"/>
          <p:nvPr/>
        </p:nvSpPr>
        <p:spPr>
          <a:xfrm>
            <a:off x="1188720" y="4965192"/>
            <a:ext cx="5760720" cy="457200"/>
          </a:xfrm>
          <a:prstGeom prst="rect">
            <a:avLst/>
          </a:prstGeom>
          <a:noFill/>
          <a:ln/>
        </p:spPr>
        <p:txBody>
          <a:bodyPr wrap="square" lIns="0" tIns="0" rIns="0" bIns="0" rtlCol="0" anchor="ctr"/>
          <a:lstStyle/>
          <a:p>
            <a:pPr indent="0" marL="0">
              <a:buNone/>
            </a:pPr>
            <a:r>
              <a:rPr lang="en-US" sz="1500" b="1" dirty="0">
                <a:solidFill>
                  <a:schemeClr val="tx2"/>
                </a:solidFill>
              </a:rPr>
              <a:t>Calibrate wearing them: </a:t>
            </a:r>
            <a:pPr indent="0" marL="0">
              <a:buNone/>
            </a:pPr>
            <a:r>
              <a:rPr lang="en-US" sz="1500" dirty="0">
                <a:solidFill>
                  <a:schemeClr val="accent5"/>
                </a:solidFill>
              </a:rPr>
              <a:t>Press c at 50 cm with your usual glasses on</a:t>
            </a:r>
            <a:endParaRPr lang="en-US" sz="1500" dirty="0"/>
          </a:p>
        </p:txBody>
      </p:sp>
      <p:pic>
        <p:nvPicPr>
          <p:cNvPr id="11" name="Image 2" descr="preencoded.png">    </p:cNvPr>
          <p:cNvPicPr>
            <a:picLocks noChangeAspect="1"/>
          </p:cNvPicPr>
          <p:nvPr/>
        </p:nvPicPr>
        <p:blipFill>
          <a:blip r:embed="rId3"/>
          <a:stretch>
            <a:fillRect/>
          </a:stretch>
        </p:blipFill>
        <p:spPr>
          <a:xfrm>
            <a:off x="640080" y="5632704"/>
            <a:ext cx="365760" cy="365760"/>
          </a:xfrm>
          <a:prstGeom prst="rect">
            <a:avLst/>
          </a:prstGeom>
        </p:spPr>
      </p:pic>
      <p:sp>
        <p:nvSpPr>
          <p:cNvPr id="12" name="Text 7"/>
          <p:cNvSpPr txBox="1"/>
          <p:nvPr/>
        </p:nvSpPr>
        <p:spPr>
          <a:xfrm>
            <a:off x="1188720" y="5586984"/>
            <a:ext cx="5760720" cy="457200"/>
          </a:xfrm>
          <a:prstGeom prst="rect">
            <a:avLst/>
          </a:prstGeom>
          <a:noFill/>
          <a:ln/>
        </p:spPr>
        <p:txBody>
          <a:bodyPr wrap="square" lIns="0" tIns="0" rIns="0" bIns="0" rtlCol="0" anchor="ctr"/>
          <a:lstStyle/>
          <a:p>
            <a:pPr indent="0" marL="0">
              <a:buNone/>
            </a:pPr>
            <a:r>
              <a:rPr lang="en-US" sz="1500" b="1" dirty="0">
                <a:solidFill>
                  <a:schemeClr val="tx2"/>
                </a:solidFill>
              </a:rPr>
              <a:t>Glare and check-up: </a:t>
            </a:r>
            <a:pPr indent="0" marL="0">
              <a:buNone/>
            </a:pPr>
            <a:r>
              <a:rPr lang="en-US" sz="1500" dirty="0">
                <a:solidFill>
                  <a:schemeClr val="accent5"/>
                </a:solidFill>
              </a:rPr>
              <a:t>Glare warning; gentle check-up reminder at high power</a:t>
            </a:r>
            <a:endParaRPr lang="en-US" sz="1500" dirty="0"/>
          </a:p>
        </p:txBody>
      </p:sp>
      <p:sp>
        <p:nvSpPr>
          <p:cNvPr id="13" name="minus 7 example card"/>
          <p:cNvSpPr/>
          <p:nvPr/>
        </p:nvSpPr>
        <p:spPr>
          <a:xfrm>
            <a:off x="7452360" y="2011680"/>
            <a:ext cx="4096512" cy="3931920"/>
          </a:xfrm>
          <a:prstGeom prst="roundRect">
            <a:avLst>
              <a:gd name="adj" fmla="val 3488"/>
            </a:avLst>
          </a:prstGeom>
          <a:solidFill>
            <a:schemeClr val="tx2"/>
          </a:solidFill>
          <a:ln/>
        </p:spPr>
      </p:sp>
      <p:sp>
        <p:nvSpPr>
          <p:cNvPr id="14" name="Text 9"/>
          <p:cNvSpPr txBox="1"/>
          <p:nvPr/>
        </p:nvSpPr>
        <p:spPr>
          <a:xfrm>
            <a:off x="7772400" y="2331720"/>
            <a:ext cx="356616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EXAMPLE: −7.00 D GLASSES</a:t>
            </a:r>
            <a:endParaRPr lang="en-US" sz="1300" dirty="0"/>
          </a:p>
        </p:txBody>
      </p:sp>
      <p:sp>
        <p:nvSpPr>
          <p:cNvPr id="15" name="Text 10"/>
          <p:cNvSpPr txBox="1"/>
          <p:nvPr/>
        </p:nvSpPr>
        <p:spPr>
          <a:xfrm>
            <a:off x="7772400" y="2743200"/>
            <a:ext cx="3566160" cy="1097280"/>
          </a:xfrm>
          <a:prstGeom prst="rect">
            <a:avLst/>
          </a:prstGeom>
          <a:noFill/>
          <a:ln/>
        </p:spPr>
        <p:txBody>
          <a:bodyPr wrap="square" lIns="0" tIns="0" rIns="0" bIns="0" rtlCol="0" anchor="ctr"/>
          <a:lstStyle/>
          <a:p>
            <a:pPr indent="0" marL="0">
              <a:buNone/>
            </a:pPr>
            <a:r>
              <a:rPr lang="en-US" sz="6600" b="1" dirty="0">
                <a:solidFill>
                  <a:schemeClr val="accent1"/>
                </a:solidFill>
                <a:latin typeface="Arial" pitchFamily="34" charset="0"/>
                <a:ea typeface="Arial" pitchFamily="34" charset="-122"/>
                <a:cs typeface="Arial" pitchFamily="34" charset="-120"/>
              </a:rPr>
              <a:t>~10%</a:t>
            </a:r>
            <a:endParaRPr lang="en-US" sz="6600" dirty="0"/>
          </a:p>
        </p:txBody>
      </p:sp>
      <p:sp>
        <p:nvSpPr>
          <p:cNvPr id="16" name="Text 11"/>
          <p:cNvSpPr txBox="1"/>
          <p:nvPr/>
        </p:nvSpPr>
        <p:spPr>
          <a:xfrm>
            <a:off x="7772400" y="3794760"/>
            <a:ext cx="3566160" cy="411480"/>
          </a:xfrm>
          <a:prstGeom prst="rect">
            <a:avLst/>
          </a:prstGeom>
          <a:noFill/>
          <a:ln/>
        </p:spPr>
        <p:txBody>
          <a:bodyPr wrap="square" lIns="0" tIns="0" rIns="0" bIns="0" rtlCol="0" anchor="ctr"/>
          <a:lstStyle/>
          <a:p>
            <a:pPr indent="0" marL="0">
              <a:buNone/>
            </a:pPr>
            <a:r>
              <a:rPr lang="en-US" sz="1800" dirty="0">
                <a:solidFill>
                  <a:schemeClr val="bg1"/>
                </a:solidFill>
              </a:rPr>
              <a:t>smaller eyes on camera</a:t>
            </a:r>
            <a:endParaRPr lang="en-US" sz="1800" dirty="0"/>
          </a:p>
        </p:txBody>
      </p:sp>
      <p:sp>
        <p:nvSpPr>
          <p:cNvPr id="17" name="Text 12"/>
          <p:cNvSpPr txBox="1"/>
          <p:nvPr/>
        </p:nvSpPr>
        <p:spPr>
          <a:xfrm>
            <a:off x="7772400" y="4343400"/>
            <a:ext cx="3474720" cy="1371600"/>
          </a:xfrm>
          <a:prstGeom prst="rect">
            <a:avLst/>
          </a:prstGeom>
          <a:noFill/>
          <a:ln/>
        </p:spPr>
        <p:txBody>
          <a:bodyPr wrap="square" lIns="0" tIns="0" rIns="0" bIns="0" rtlCol="0" anchor="t"/>
          <a:lstStyle/>
          <a:p>
            <a:pPr indent="0" marL="0">
              <a:buNone/>
            </a:pPr>
            <a:r>
              <a:rPr lang="en-US" sz="1500" dirty="0">
                <a:solidFill>
                  <a:schemeClr val="accent3"/>
                </a:solidFill>
              </a:rPr>
              <a:t>Without correction, sitting at 45 cm reads about 50 cm, so the warning never fires. Calibration makes it exact.</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lIns="0" tIns="0" rIns="0" bIns="0" rtlCol="0"/>
          <a:lstStyle/>
          <a:p>
            <a:pPr indent="0" marL="0">
              <a:buNone/>
            </a:pPr>
            <a:r>
              <a:rPr lang="en-US" sz="1400" b="1" spc="200" kern="0" dirty="0">
                <a:solidFill>
                  <a:schemeClr val="accent6"/>
                </a:solidFill>
              </a:rPr>
              <a:t>BACKGROUND MODE</a:t>
            </a: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lIns="0" tIns="0" rIns="0" bIns="0" rtlCol="0" anchor="t"/>
          <a:lstStyle/>
          <a:p>
            <a:pPr algn="l" indent="0" marL="0">
              <a:buNone/>
            </a:pPr>
            <a:r>
              <a:rPr lang="en-US" sz="3600" b="1" dirty="0">
                <a:solidFill>
                  <a:schemeClr val="tx2"/>
                </a:solidFill>
                <a:latin typeface="Arial" pitchFamily="34" charset="0"/>
                <a:ea typeface="Arial" pitchFamily="34" charset="-122"/>
                <a:cs typeface="Arial" pitchFamily="34" charset="-120"/>
              </a:rPr>
              <a:t>Runs quietly while you study</a:t>
            </a:r>
            <a:endParaRPr lang="en-US" sz="3600" dirty="0"/>
          </a:p>
        </p:txBody>
      </p:sp>
      <p:sp>
        <p:nvSpPr>
          <p:cNvPr id="4" name="Text 2"/>
          <p:cNvSpPr txBox="1"/>
          <p:nvPr/>
        </p:nvSpPr>
        <p:spPr>
          <a:xfrm>
            <a:off x="640080" y="2011680"/>
            <a:ext cx="5852160" cy="1371600"/>
          </a:xfrm>
          <a:prstGeom prst="rect">
            <a:avLst/>
          </a:prstGeom>
          <a:noFill/>
          <a:ln/>
        </p:spPr>
        <p:txBody>
          <a:bodyPr wrap="square" lIns="0" tIns="0" rIns="0" bIns="0" rtlCol="0" anchor="t"/>
          <a:lstStyle/>
          <a:p>
            <a:pPr indent="0" marL="0">
              <a:buNone/>
            </a:pPr>
            <a:r>
              <a:rPr lang="en-US" sz="1500" dirty="0">
                <a:solidFill>
                  <a:schemeClr val="tx1"/>
                </a:solidFill>
              </a:rPr>
              <a:t>Start it with  py eyeguard.py --background  and keep working in any app. EyeGuard keeps checking through the webcam and shows a small pop-up in the corner of the screen only when your eyes need it.</a:t>
            </a:r>
            <a:endParaRPr lang="en-US" sz="1500" dirty="0"/>
          </a:p>
        </p:txBody>
      </p:sp>
      <p:sp>
        <p:nvSpPr>
          <p:cNvPr id="5" name="dot 0"/>
          <p:cNvSpPr/>
          <p:nvPr/>
        </p:nvSpPr>
        <p:spPr>
          <a:xfrm>
            <a:off x="640080" y="3630168"/>
            <a:ext cx="201168" cy="201168"/>
          </a:xfrm>
          <a:prstGeom prst="ellipse">
            <a:avLst/>
          </a:prstGeom>
          <a:solidFill>
            <a:schemeClr val="accent1"/>
          </a:solidFill>
          <a:ln/>
        </p:spPr>
      </p:sp>
      <p:sp>
        <p:nvSpPr>
          <p:cNvPr id="6" name="Text 4"/>
          <p:cNvSpPr txBox="1"/>
          <p:nvPr/>
        </p:nvSpPr>
        <p:spPr>
          <a:xfrm>
            <a:off x="1051560" y="3520440"/>
            <a:ext cx="5486400" cy="420624"/>
          </a:xfrm>
          <a:prstGeom prst="rect">
            <a:avLst/>
          </a:prstGeom>
          <a:noFill/>
          <a:ln/>
        </p:spPr>
        <p:txBody>
          <a:bodyPr wrap="square" lIns="0" tIns="0" rIns="0" bIns="0" rtlCol="0" anchor="ctr"/>
          <a:lstStyle/>
          <a:p>
            <a:pPr indent="0" marL="0">
              <a:buNone/>
            </a:pPr>
            <a:r>
              <a:rPr lang="en-US" sz="1500" b="1" dirty="0">
                <a:solidFill>
                  <a:schemeClr val="tx2"/>
                </a:solidFill>
              </a:rPr>
              <a:t>Windows notifications: </a:t>
            </a:r>
            <a:pPr indent="0" marL="0">
              <a:buNone/>
            </a:pPr>
            <a:r>
              <a:rPr lang="en-US" sz="1500" dirty="0">
                <a:solidFill>
                  <a:schemeClr val="accent5"/>
                </a:solidFill>
              </a:rPr>
              <a:t>Blinking, distance, drowsiness and break alerts</a:t>
            </a:r>
            <a:endParaRPr lang="en-US" sz="1500" dirty="0"/>
          </a:p>
        </p:txBody>
      </p:sp>
      <p:sp>
        <p:nvSpPr>
          <p:cNvPr id="7" name="dot 1"/>
          <p:cNvSpPr/>
          <p:nvPr/>
        </p:nvSpPr>
        <p:spPr>
          <a:xfrm>
            <a:off x="640080" y="4251960"/>
            <a:ext cx="201168" cy="201168"/>
          </a:xfrm>
          <a:prstGeom prst="ellipse">
            <a:avLst/>
          </a:prstGeom>
          <a:solidFill>
            <a:schemeClr val="accent1"/>
          </a:solidFill>
          <a:ln/>
        </p:spPr>
      </p:sp>
      <p:sp>
        <p:nvSpPr>
          <p:cNvPr id="8" name="Text 6"/>
          <p:cNvSpPr txBox="1"/>
          <p:nvPr/>
        </p:nvSpPr>
        <p:spPr>
          <a:xfrm>
            <a:off x="1051560" y="4142232"/>
            <a:ext cx="5486400" cy="420624"/>
          </a:xfrm>
          <a:prstGeom prst="rect">
            <a:avLst/>
          </a:prstGeom>
          <a:noFill/>
          <a:ln/>
        </p:spPr>
        <p:txBody>
          <a:bodyPr wrap="square" lIns="0" tIns="0" rIns="0" bIns="0" rtlCol="0" anchor="ctr"/>
          <a:lstStyle/>
          <a:p>
            <a:pPr indent="0" marL="0">
              <a:buNone/>
            </a:pPr>
            <a:r>
              <a:rPr lang="en-US" sz="1500" b="1" dirty="0">
                <a:solidFill>
                  <a:schemeClr val="tx2"/>
                </a:solidFill>
              </a:rPr>
              <a:t>Mini window: </a:t>
            </a:r>
            <a:pPr indent="0" marL="0">
              <a:buNone/>
            </a:pPr>
            <a:r>
              <a:rPr lang="en-US" sz="1500" dirty="0">
                <a:solidFill>
                  <a:schemeClr val="accent5"/>
                </a:solidFill>
              </a:rPr>
              <a:t>Live blinks/min, distance and strain score in a corner</a:t>
            </a:r>
            <a:endParaRPr lang="en-US" sz="1500" dirty="0"/>
          </a:p>
        </p:txBody>
      </p:sp>
      <p:sp>
        <p:nvSpPr>
          <p:cNvPr id="9" name="dot 2"/>
          <p:cNvSpPr/>
          <p:nvPr/>
        </p:nvSpPr>
        <p:spPr>
          <a:xfrm>
            <a:off x="640080" y="4873752"/>
            <a:ext cx="201168" cy="201168"/>
          </a:xfrm>
          <a:prstGeom prst="ellipse">
            <a:avLst/>
          </a:prstGeom>
          <a:solidFill>
            <a:schemeClr val="accent1"/>
          </a:solidFill>
          <a:ln/>
        </p:spPr>
      </p:sp>
      <p:sp>
        <p:nvSpPr>
          <p:cNvPr id="10" name="Text 8"/>
          <p:cNvSpPr txBox="1"/>
          <p:nvPr/>
        </p:nvSpPr>
        <p:spPr>
          <a:xfrm>
            <a:off x="1051560" y="4764024"/>
            <a:ext cx="5486400" cy="420624"/>
          </a:xfrm>
          <a:prstGeom prst="rect">
            <a:avLst/>
          </a:prstGeom>
          <a:noFill/>
          <a:ln/>
        </p:spPr>
        <p:txBody>
          <a:bodyPr wrap="square" lIns="0" tIns="0" rIns="0" bIns="0" rtlCol="0" anchor="ctr"/>
          <a:lstStyle/>
          <a:p>
            <a:pPr indent="0" marL="0">
              <a:buNone/>
            </a:pPr>
            <a:r>
              <a:rPr lang="en-US" sz="1500" b="1" dirty="0">
                <a:solidFill>
                  <a:schemeClr val="tx2"/>
                </a:solidFill>
              </a:rPr>
              <a:t>Breaks still verified: </a:t>
            </a:r>
            <a:pPr indent="0" marL="0">
              <a:buNone/>
            </a:pPr>
            <a:r>
              <a:rPr lang="en-US" sz="1500" dirty="0">
                <a:solidFill>
                  <a:schemeClr val="accent5"/>
                </a:solidFill>
              </a:rPr>
              <a:t>"Break done ✓" only after you really look away</a:t>
            </a:r>
            <a:endParaRPr lang="en-US" sz="1500" dirty="0"/>
          </a:p>
        </p:txBody>
      </p:sp>
      <p:sp>
        <p:nvSpPr>
          <p:cNvPr id="11" name="dot 3"/>
          <p:cNvSpPr/>
          <p:nvPr/>
        </p:nvSpPr>
        <p:spPr>
          <a:xfrm>
            <a:off x="640080" y="5495544"/>
            <a:ext cx="201168" cy="201168"/>
          </a:xfrm>
          <a:prstGeom prst="ellipse">
            <a:avLst/>
          </a:prstGeom>
          <a:solidFill>
            <a:schemeClr val="accent1"/>
          </a:solidFill>
          <a:ln/>
        </p:spPr>
      </p:sp>
      <p:sp>
        <p:nvSpPr>
          <p:cNvPr id="12" name="Text 10"/>
          <p:cNvSpPr txBox="1"/>
          <p:nvPr/>
        </p:nvSpPr>
        <p:spPr>
          <a:xfrm>
            <a:off x="1051560" y="5385816"/>
            <a:ext cx="5486400" cy="420624"/>
          </a:xfrm>
          <a:prstGeom prst="rect">
            <a:avLst/>
          </a:prstGeom>
          <a:noFill/>
          <a:ln/>
        </p:spPr>
        <p:txBody>
          <a:bodyPr wrap="square" lIns="0" tIns="0" rIns="0" bIns="0" rtlCol="0" anchor="ctr"/>
          <a:lstStyle/>
          <a:p>
            <a:pPr indent="0" marL="0">
              <a:buNone/>
            </a:pPr>
            <a:r>
              <a:rPr lang="en-US" sz="1500" b="1" dirty="0">
                <a:solidFill>
                  <a:schemeClr val="tx2"/>
                </a:solidFill>
              </a:rPr>
              <a:t>Same session log: </a:t>
            </a:r>
            <a:pPr indent="0" marL="0">
              <a:buNone/>
            </a:pPr>
            <a:r>
              <a:rPr lang="en-US" sz="1500" dirty="0">
                <a:solidFill>
                  <a:schemeClr val="accent5"/>
                </a:solidFill>
              </a:rPr>
              <a:t>Dashboard and reports still work afterwards</a:t>
            </a:r>
            <a:endParaRPr lang="en-US" sz="1500" dirty="0"/>
          </a:p>
        </p:txBody>
      </p:sp>
      <p:sp>
        <p:nvSpPr>
          <p:cNvPr id="13" name="toast 0"/>
          <p:cNvSpPr/>
          <p:nvPr/>
        </p:nvSpPr>
        <p:spPr>
          <a:xfrm>
            <a:off x="7223760" y="2103120"/>
            <a:ext cx="4297680" cy="1005840"/>
          </a:xfrm>
          <a:prstGeom prst="roundRect">
            <a:avLst>
              <a:gd name="adj" fmla="val 10909"/>
            </a:avLst>
          </a:prstGeom>
          <a:solidFill>
            <a:schemeClr val="bg1"/>
          </a:solidFill>
          <a:ln w="12700">
            <a:solidFill>
              <a:schemeClr val="accent3"/>
            </a:solidFill>
            <a:prstDash val="solid"/>
          </a:ln>
          <a:effectLst>
            <a:outerShdw sx="100000" sy="100000" kx="0" ky="0" algn="bl" rotWithShape="0" blurRad="101600" dist="25400" dir="5400000">
              <a:srgbClr val="0F3B3E">
                <a:alpha val="18000"/>
              </a:srgbClr>
            </a:outerShdw>
          </a:effectLst>
        </p:spPr>
      </p:sp>
      <p:pic>
        <p:nvPicPr>
          <p:cNvPr id="14" name="Image 0" descr="preencoded.png">    </p:cNvPr>
          <p:cNvPicPr>
            <a:picLocks noChangeAspect="1"/>
          </p:cNvPicPr>
          <p:nvPr/>
        </p:nvPicPr>
        <p:blipFill>
          <a:blip r:embed="rId1"/>
          <a:stretch>
            <a:fillRect/>
          </a:stretch>
        </p:blipFill>
        <p:spPr>
          <a:xfrm>
            <a:off x="7498080" y="2395728"/>
            <a:ext cx="384048" cy="384048"/>
          </a:xfrm>
          <a:prstGeom prst="rect">
            <a:avLst/>
          </a:prstGeom>
        </p:spPr>
      </p:pic>
      <p:sp>
        <p:nvSpPr>
          <p:cNvPr id="15" name="Text 12"/>
          <p:cNvSpPr txBox="1"/>
          <p:nvPr/>
        </p:nvSpPr>
        <p:spPr>
          <a:xfrm>
            <a:off x="8092440" y="2267712"/>
            <a:ext cx="3291840" cy="411480"/>
          </a:xfrm>
          <a:prstGeom prst="rect">
            <a:avLst/>
          </a:prstGeom>
          <a:noFill/>
          <a:ln/>
        </p:spPr>
        <p:txBody>
          <a:bodyPr wrap="square" lIns="0" tIns="0" rIns="0" bIns="0" rtlCol="0" anchor="ctr"/>
          <a:lstStyle/>
          <a:p>
            <a:pPr indent="0" marL="0">
              <a:buNone/>
            </a:pPr>
            <a:r>
              <a:rPr lang="en-US" sz="1600" b="1" dirty="0">
                <a:solidFill>
                  <a:schemeClr val="tx2"/>
                </a:solidFill>
              </a:rPr>
              <a:t>Blink more — only 6/min</a:t>
            </a:r>
            <a:endParaRPr lang="en-US" sz="1600" dirty="0"/>
          </a:p>
        </p:txBody>
      </p:sp>
      <p:sp>
        <p:nvSpPr>
          <p:cNvPr id="16" name="Text 13"/>
          <p:cNvSpPr txBox="1"/>
          <p:nvPr/>
        </p:nvSpPr>
        <p:spPr>
          <a:xfrm>
            <a:off x="8092440" y="2651760"/>
            <a:ext cx="3291840" cy="320040"/>
          </a:xfrm>
          <a:prstGeom prst="rect">
            <a:avLst/>
          </a:prstGeom>
          <a:noFill/>
          <a:ln/>
        </p:spPr>
        <p:txBody>
          <a:bodyPr wrap="square" lIns="0" tIns="0" rIns="0" bIns="0" rtlCol="0" anchor="ctr"/>
          <a:lstStyle/>
          <a:p>
            <a:pPr indent="0" marL="0">
              <a:buNone/>
            </a:pPr>
            <a:r>
              <a:rPr lang="en-US" sz="1200" dirty="0">
                <a:solidFill>
                  <a:schemeClr val="accent5"/>
                </a:solidFill>
              </a:rPr>
              <a:t>EyeGuard · now</a:t>
            </a:r>
            <a:endParaRPr lang="en-US" sz="1200" dirty="0"/>
          </a:p>
        </p:txBody>
      </p:sp>
      <p:sp>
        <p:nvSpPr>
          <p:cNvPr id="17" name="toast 1"/>
          <p:cNvSpPr/>
          <p:nvPr/>
        </p:nvSpPr>
        <p:spPr>
          <a:xfrm>
            <a:off x="7223760" y="3337560"/>
            <a:ext cx="4297680" cy="1005840"/>
          </a:xfrm>
          <a:prstGeom prst="roundRect">
            <a:avLst>
              <a:gd name="adj" fmla="val 10909"/>
            </a:avLst>
          </a:prstGeom>
          <a:solidFill>
            <a:schemeClr val="bg1"/>
          </a:solidFill>
          <a:ln w="12700">
            <a:solidFill>
              <a:schemeClr val="accent3"/>
            </a:solidFill>
            <a:prstDash val="solid"/>
          </a:ln>
          <a:effectLst>
            <a:outerShdw sx="100000" sy="100000" kx="0" ky="0" algn="bl" rotWithShape="0" blurRad="101600" dist="25400" dir="5400000">
              <a:srgbClr val="0F3B3E">
                <a:alpha val="18000"/>
              </a:srgbClr>
            </a:outerShdw>
          </a:effectLst>
        </p:spPr>
      </p:sp>
      <p:pic>
        <p:nvPicPr>
          <p:cNvPr id="18" name="Image 1" descr="preencoded.png">    </p:cNvPr>
          <p:cNvPicPr>
            <a:picLocks noChangeAspect="1"/>
          </p:cNvPicPr>
          <p:nvPr/>
        </p:nvPicPr>
        <p:blipFill>
          <a:blip r:embed="rId2"/>
          <a:stretch>
            <a:fillRect/>
          </a:stretch>
        </p:blipFill>
        <p:spPr>
          <a:xfrm>
            <a:off x="7498080" y="3630168"/>
            <a:ext cx="384048" cy="384048"/>
          </a:xfrm>
          <a:prstGeom prst="rect">
            <a:avLst/>
          </a:prstGeom>
        </p:spPr>
      </p:pic>
      <p:sp>
        <p:nvSpPr>
          <p:cNvPr id="19" name="Text 15"/>
          <p:cNvSpPr txBox="1"/>
          <p:nvPr/>
        </p:nvSpPr>
        <p:spPr>
          <a:xfrm>
            <a:off x="8092440" y="3502152"/>
            <a:ext cx="3291840" cy="411480"/>
          </a:xfrm>
          <a:prstGeom prst="rect">
            <a:avLst/>
          </a:prstGeom>
          <a:noFill/>
          <a:ln/>
        </p:spPr>
        <p:txBody>
          <a:bodyPr wrap="square" lIns="0" tIns="0" rIns="0" bIns="0" rtlCol="0" anchor="ctr"/>
          <a:lstStyle/>
          <a:p>
            <a:pPr indent="0" marL="0">
              <a:buNone/>
            </a:pPr>
            <a:r>
              <a:rPr lang="en-US" sz="1600" b="1" dirty="0">
                <a:solidFill>
                  <a:schemeClr val="tx2"/>
                </a:solidFill>
              </a:rPr>
              <a:t>Too close: 42 cm — sit back</a:t>
            </a:r>
            <a:endParaRPr lang="en-US" sz="1600" dirty="0"/>
          </a:p>
        </p:txBody>
      </p:sp>
      <p:sp>
        <p:nvSpPr>
          <p:cNvPr id="20" name="Text 16"/>
          <p:cNvSpPr txBox="1"/>
          <p:nvPr/>
        </p:nvSpPr>
        <p:spPr>
          <a:xfrm>
            <a:off x="8092440" y="3886200"/>
            <a:ext cx="3291840" cy="320040"/>
          </a:xfrm>
          <a:prstGeom prst="rect">
            <a:avLst/>
          </a:prstGeom>
          <a:noFill/>
          <a:ln/>
        </p:spPr>
        <p:txBody>
          <a:bodyPr wrap="square" lIns="0" tIns="0" rIns="0" bIns="0" rtlCol="0" anchor="ctr"/>
          <a:lstStyle/>
          <a:p>
            <a:pPr indent="0" marL="0">
              <a:buNone/>
            </a:pPr>
            <a:r>
              <a:rPr lang="en-US" sz="1200" dirty="0">
                <a:solidFill>
                  <a:schemeClr val="accent5"/>
                </a:solidFill>
              </a:rPr>
              <a:t>EyeGuard · 2 min ago</a:t>
            </a:r>
            <a:endParaRPr lang="en-US" sz="1200" dirty="0"/>
          </a:p>
        </p:txBody>
      </p:sp>
      <p:sp>
        <p:nvSpPr>
          <p:cNvPr id="21" name="toast 2"/>
          <p:cNvSpPr/>
          <p:nvPr/>
        </p:nvSpPr>
        <p:spPr>
          <a:xfrm>
            <a:off x="7223760" y="4572000"/>
            <a:ext cx="4297680" cy="1005840"/>
          </a:xfrm>
          <a:prstGeom prst="roundRect">
            <a:avLst>
              <a:gd name="adj" fmla="val 10909"/>
            </a:avLst>
          </a:prstGeom>
          <a:solidFill>
            <a:schemeClr val="bg1"/>
          </a:solidFill>
          <a:ln w="12700">
            <a:solidFill>
              <a:schemeClr val="accent3"/>
            </a:solidFill>
            <a:prstDash val="solid"/>
          </a:ln>
          <a:effectLst>
            <a:outerShdw sx="100000" sy="100000" kx="0" ky="0" algn="bl" rotWithShape="0" blurRad="101600" dist="25400" dir="5400000">
              <a:srgbClr val="0F3B3E">
                <a:alpha val="18000"/>
              </a:srgbClr>
            </a:outerShdw>
          </a:effectLst>
        </p:spPr>
      </p:sp>
      <p:pic>
        <p:nvPicPr>
          <p:cNvPr id="22" name="Image 2" descr="preencoded.png">    </p:cNvPr>
          <p:cNvPicPr>
            <a:picLocks noChangeAspect="1"/>
          </p:cNvPicPr>
          <p:nvPr/>
        </p:nvPicPr>
        <p:blipFill>
          <a:blip r:embed="rId3"/>
          <a:stretch>
            <a:fillRect/>
          </a:stretch>
        </p:blipFill>
        <p:spPr>
          <a:xfrm>
            <a:off x="7498080" y="4864608"/>
            <a:ext cx="384048" cy="384048"/>
          </a:xfrm>
          <a:prstGeom prst="rect">
            <a:avLst/>
          </a:prstGeom>
        </p:spPr>
      </p:pic>
      <p:sp>
        <p:nvSpPr>
          <p:cNvPr id="23" name="Text 18"/>
          <p:cNvSpPr txBox="1"/>
          <p:nvPr/>
        </p:nvSpPr>
        <p:spPr>
          <a:xfrm>
            <a:off x="8092440" y="4736592"/>
            <a:ext cx="3291840" cy="411480"/>
          </a:xfrm>
          <a:prstGeom prst="rect">
            <a:avLst/>
          </a:prstGeom>
          <a:noFill/>
          <a:ln/>
        </p:spPr>
        <p:txBody>
          <a:bodyPr wrap="square" lIns="0" tIns="0" rIns="0" bIns="0" rtlCol="0" anchor="ctr"/>
          <a:lstStyle/>
          <a:p>
            <a:pPr indent="0" marL="0">
              <a:buNone/>
            </a:pPr>
            <a:r>
              <a:rPr lang="en-US" sz="1600" b="1" dirty="0">
                <a:solidFill>
                  <a:schemeClr val="tx2"/>
                </a:solidFill>
              </a:rPr>
              <a:t>Break done ✓ Nice rest!</a:t>
            </a:r>
            <a:endParaRPr lang="en-US" sz="1600" dirty="0"/>
          </a:p>
        </p:txBody>
      </p:sp>
      <p:sp>
        <p:nvSpPr>
          <p:cNvPr id="24" name="Text 19"/>
          <p:cNvSpPr txBox="1"/>
          <p:nvPr/>
        </p:nvSpPr>
        <p:spPr>
          <a:xfrm>
            <a:off x="8092440" y="5120640"/>
            <a:ext cx="3291840" cy="320040"/>
          </a:xfrm>
          <a:prstGeom prst="rect">
            <a:avLst/>
          </a:prstGeom>
          <a:noFill/>
          <a:ln/>
        </p:spPr>
        <p:txBody>
          <a:bodyPr wrap="square" lIns="0" tIns="0" rIns="0" bIns="0" rtlCol="0" anchor="ctr"/>
          <a:lstStyle/>
          <a:p>
            <a:pPr indent="0" marL="0">
              <a:buNone/>
            </a:pPr>
            <a:r>
              <a:rPr lang="en-US" sz="1200" dirty="0">
                <a:solidFill>
                  <a:schemeClr val="accent5"/>
                </a:solidFill>
              </a:rPr>
              <a:t>EyeGuard · 20 min ago</a:t>
            </a:r>
            <a:endParaRPr lang="en-US" sz="12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lIns="0" tIns="0" rIns="0" bIns="0" rtlCol="0"/>
          <a:lstStyle/>
          <a:p>
            <a:pPr indent="0" marL="0">
              <a:buNone/>
            </a:pPr>
            <a:r>
              <a:rPr lang="en-US" sz="1400" b="1" spc="200" kern="0" dirty="0">
                <a:solidFill>
                  <a:schemeClr val="accent6"/>
                </a:solidFill>
              </a:rPr>
              <a:t>THE EYEGUARD WEBSITE</a:t>
            </a: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lIns="0" tIns="0" rIns="0" bIns="0" rtlCol="0" anchor="t"/>
          <a:lstStyle/>
          <a:p>
            <a:pPr algn="l" indent="0" marL="0">
              <a:buNone/>
            </a:pPr>
            <a:r>
              <a:rPr lang="en-US" sz="3600" b="1" dirty="0">
                <a:solidFill>
                  <a:schemeClr val="tx2"/>
                </a:solidFill>
                <a:latin typeface="Arial" pitchFamily="34" charset="0"/>
                <a:ea typeface="Arial" pitchFamily="34" charset="-122"/>
                <a:cs typeface="Arial" pitchFamily="34" charset="-120"/>
              </a:rPr>
              <a:t>Try it, track it and understand it in the browser</a:t>
            </a:r>
            <a:endParaRPr lang="en-US" sz="3600" dirty="0"/>
          </a:p>
        </p:txBody>
      </p:sp>
      <p:sp>
        <p:nvSpPr>
          <p:cNvPr id="4" name="page Home"/>
          <p:cNvSpPr/>
          <p:nvPr/>
        </p:nvSpPr>
        <p:spPr>
          <a:xfrm>
            <a:off x="640080" y="1920240"/>
            <a:ext cx="3456432" cy="1783080"/>
          </a:xfrm>
          <a:prstGeom prst="roundRect">
            <a:avLst>
              <a:gd name="adj" fmla="val 7692"/>
            </a:avLst>
          </a:prstGeom>
          <a:solidFill>
            <a:schemeClr val="bg1"/>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914400" y="2194560"/>
            <a:ext cx="411480" cy="411480"/>
          </a:xfrm>
          <a:prstGeom prst="rect">
            <a:avLst/>
          </a:prstGeom>
        </p:spPr>
      </p:pic>
      <p:sp>
        <p:nvSpPr>
          <p:cNvPr id="6" name="Text 3"/>
          <p:cNvSpPr txBox="1"/>
          <p:nvPr/>
        </p:nvSpPr>
        <p:spPr>
          <a:xfrm>
            <a:off x="1508760" y="2176272"/>
            <a:ext cx="235915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Home</a:t>
            </a:r>
            <a:endParaRPr lang="en-US" sz="2000" dirty="0"/>
          </a:p>
        </p:txBody>
      </p:sp>
      <p:sp>
        <p:nvSpPr>
          <p:cNvPr id="7" name="Text 4"/>
          <p:cNvSpPr txBox="1"/>
          <p:nvPr/>
        </p:nvSpPr>
        <p:spPr>
          <a:xfrm>
            <a:off x="914400" y="2788920"/>
            <a:ext cx="2907792" cy="822960"/>
          </a:xfrm>
          <a:prstGeom prst="rect">
            <a:avLst/>
          </a:prstGeom>
          <a:noFill/>
          <a:ln/>
        </p:spPr>
        <p:txBody>
          <a:bodyPr wrap="square" lIns="0" tIns="0" rIns="0" bIns="0" rtlCol="0" anchor="t"/>
          <a:lstStyle/>
          <a:p>
            <a:pPr indent="0" marL="0">
              <a:buNone/>
            </a:pPr>
            <a:r>
              <a:rPr lang="en-US" sz="1500" dirty="0">
                <a:solidFill>
                  <a:schemeClr val="accent5"/>
                </a:solidFill>
              </a:rPr>
              <a:t>The problem, how it works and our SDG goals</a:t>
            </a:r>
            <a:endParaRPr lang="en-US" sz="1500" dirty="0"/>
          </a:p>
        </p:txBody>
      </p:sp>
      <p:sp>
        <p:nvSpPr>
          <p:cNvPr id="8" name="page Live Check"/>
          <p:cNvSpPr/>
          <p:nvPr/>
        </p:nvSpPr>
        <p:spPr>
          <a:xfrm>
            <a:off x="4370832" y="1920240"/>
            <a:ext cx="3456432" cy="1783080"/>
          </a:xfrm>
          <a:prstGeom prst="roundRect">
            <a:avLst>
              <a:gd name="adj" fmla="val 7692"/>
            </a:avLst>
          </a:prstGeom>
          <a:solidFill>
            <a:schemeClr val="bg1"/>
          </a:solidFill>
          <a:ln w="12700">
            <a:solidFill>
              <a:schemeClr val="accent3"/>
            </a:solidFill>
            <a:prstDash val="solid"/>
          </a:ln>
        </p:spPr>
      </p:sp>
      <p:pic>
        <p:nvPicPr>
          <p:cNvPr id="9" name="Image 1" descr="preencoded.png">    </p:cNvPr>
          <p:cNvPicPr>
            <a:picLocks noChangeAspect="1"/>
          </p:cNvPicPr>
          <p:nvPr/>
        </p:nvPicPr>
        <p:blipFill>
          <a:blip r:embed="rId2"/>
          <a:stretch>
            <a:fillRect/>
          </a:stretch>
        </p:blipFill>
        <p:spPr>
          <a:xfrm>
            <a:off x="4645152" y="2194560"/>
            <a:ext cx="411480" cy="411480"/>
          </a:xfrm>
          <a:prstGeom prst="rect">
            <a:avLst/>
          </a:prstGeom>
        </p:spPr>
      </p:pic>
      <p:sp>
        <p:nvSpPr>
          <p:cNvPr id="10" name="Text 6"/>
          <p:cNvSpPr txBox="1"/>
          <p:nvPr/>
        </p:nvSpPr>
        <p:spPr>
          <a:xfrm>
            <a:off x="5239512" y="2176272"/>
            <a:ext cx="235915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Live Check</a:t>
            </a:r>
            <a:endParaRPr lang="en-US" sz="2000" dirty="0"/>
          </a:p>
        </p:txBody>
      </p:sp>
      <p:sp>
        <p:nvSpPr>
          <p:cNvPr id="11" name="Text 7"/>
          <p:cNvSpPr txBox="1"/>
          <p:nvPr/>
        </p:nvSpPr>
        <p:spPr>
          <a:xfrm>
            <a:off x="4645152" y="2788920"/>
            <a:ext cx="2907792" cy="822960"/>
          </a:xfrm>
          <a:prstGeom prst="rect">
            <a:avLst/>
          </a:prstGeom>
          <a:noFill/>
          <a:ln/>
        </p:spPr>
        <p:txBody>
          <a:bodyPr wrap="square" lIns="0" tIns="0" rIns="0" bIns="0" rtlCol="0" anchor="t"/>
          <a:lstStyle/>
          <a:p>
            <a:pPr indent="0" marL="0">
              <a:buNone/>
            </a:pPr>
            <a:r>
              <a:rPr lang="en-US" sz="1500" dirty="0">
                <a:solidFill>
                  <a:schemeClr val="accent5"/>
                </a:solidFill>
              </a:rPr>
              <a:t>Webcam check in the browser with live readings</a:t>
            </a:r>
            <a:endParaRPr lang="en-US" sz="1500" dirty="0"/>
          </a:p>
        </p:txBody>
      </p:sp>
      <p:sp>
        <p:nvSpPr>
          <p:cNvPr id="12" name="page My Profile"/>
          <p:cNvSpPr/>
          <p:nvPr/>
        </p:nvSpPr>
        <p:spPr>
          <a:xfrm>
            <a:off x="8101584" y="1920240"/>
            <a:ext cx="3456432" cy="1783080"/>
          </a:xfrm>
          <a:prstGeom prst="roundRect">
            <a:avLst>
              <a:gd name="adj" fmla="val 7692"/>
            </a:avLst>
          </a:prstGeom>
          <a:solidFill>
            <a:schemeClr val="bg1"/>
          </a:solidFill>
          <a:ln w="12700">
            <a:solidFill>
              <a:schemeClr val="accent3"/>
            </a:solidFill>
            <a:prstDash val="solid"/>
          </a:ln>
        </p:spPr>
      </p:sp>
      <p:pic>
        <p:nvPicPr>
          <p:cNvPr id="13" name="Image 2" descr="preencoded.png">    </p:cNvPr>
          <p:cNvPicPr>
            <a:picLocks noChangeAspect="1"/>
          </p:cNvPicPr>
          <p:nvPr/>
        </p:nvPicPr>
        <p:blipFill>
          <a:blip r:embed="rId3"/>
          <a:stretch>
            <a:fillRect/>
          </a:stretch>
        </p:blipFill>
        <p:spPr>
          <a:xfrm>
            <a:off x="8375904" y="2194560"/>
            <a:ext cx="411480" cy="411480"/>
          </a:xfrm>
          <a:prstGeom prst="rect">
            <a:avLst/>
          </a:prstGeom>
        </p:spPr>
      </p:pic>
      <p:sp>
        <p:nvSpPr>
          <p:cNvPr id="14" name="Text 9"/>
          <p:cNvSpPr txBox="1"/>
          <p:nvPr/>
        </p:nvSpPr>
        <p:spPr>
          <a:xfrm>
            <a:off x="8970264" y="2176272"/>
            <a:ext cx="235915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My Profile</a:t>
            </a:r>
            <a:endParaRPr lang="en-US" sz="2000" dirty="0"/>
          </a:p>
        </p:txBody>
      </p:sp>
      <p:sp>
        <p:nvSpPr>
          <p:cNvPr id="15" name="Text 10"/>
          <p:cNvSpPr txBox="1"/>
          <p:nvPr/>
        </p:nvSpPr>
        <p:spPr>
          <a:xfrm>
            <a:off x="8375904" y="2788920"/>
            <a:ext cx="2907792" cy="822960"/>
          </a:xfrm>
          <a:prstGeom prst="rect">
            <a:avLst/>
          </a:prstGeom>
          <a:noFill/>
          <a:ln/>
        </p:spPr>
        <p:txBody>
          <a:bodyPr wrap="square" lIns="0" tIns="0" rIns="0" bIns="0" rtlCol="0" anchor="t"/>
          <a:lstStyle/>
          <a:p>
            <a:pPr indent="0" marL="0">
              <a:buNone/>
            </a:pPr>
            <a:r>
              <a:rPr lang="en-US" sz="1500" dirty="0">
                <a:solidFill>
                  <a:schemeClr val="accent5"/>
                </a:solidFill>
              </a:rPr>
              <a:t>Glasses, power and calibration settings</a:t>
            </a:r>
            <a:endParaRPr lang="en-US" sz="1500" dirty="0"/>
          </a:p>
        </p:txBody>
      </p:sp>
      <p:sp>
        <p:nvSpPr>
          <p:cNvPr id="16" name="page Dashboard"/>
          <p:cNvSpPr/>
          <p:nvPr/>
        </p:nvSpPr>
        <p:spPr>
          <a:xfrm>
            <a:off x="640080" y="3977640"/>
            <a:ext cx="3456432" cy="1783080"/>
          </a:xfrm>
          <a:prstGeom prst="roundRect">
            <a:avLst>
              <a:gd name="adj" fmla="val 7692"/>
            </a:avLst>
          </a:prstGeom>
          <a:solidFill>
            <a:schemeClr val="bg1"/>
          </a:solidFill>
          <a:ln w="12700">
            <a:solidFill>
              <a:schemeClr val="accent3"/>
            </a:solidFill>
            <a:prstDash val="solid"/>
          </a:ln>
        </p:spPr>
      </p:sp>
      <p:pic>
        <p:nvPicPr>
          <p:cNvPr id="17" name="Image 3" descr="preencoded.png">    </p:cNvPr>
          <p:cNvPicPr>
            <a:picLocks noChangeAspect="1"/>
          </p:cNvPicPr>
          <p:nvPr/>
        </p:nvPicPr>
        <p:blipFill>
          <a:blip r:embed="rId4"/>
          <a:stretch>
            <a:fillRect/>
          </a:stretch>
        </p:blipFill>
        <p:spPr>
          <a:xfrm>
            <a:off x="914400" y="4251960"/>
            <a:ext cx="411480" cy="411480"/>
          </a:xfrm>
          <a:prstGeom prst="rect">
            <a:avLst/>
          </a:prstGeom>
        </p:spPr>
      </p:pic>
      <p:sp>
        <p:nvSpPr>
          <p:cNvPr id="18" name="Text 12"/>
          <p:cNvSpPr txBox="1"/>
          <p:nvPr/>
        </p:nvSpPr>
        <p:spPr>
          <a:xfrm>
            <a:off x="1508760" y="4233672"/>
            <a:ext cx="235915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Dashboard</a:t>
            </a:r>
            <a:endParaRPr lang="en-US" sz="2000" dirty="0"/>
          </a:p>
        </p:txBody>
      </p:sp>
      <p:sp>
        <p:nvSpPr>
          <p:cNvPr id="19" name="Text 13"/>
          <p:cNvSpPr txBox="1"/>
          <p:nvPr/>
        </p:nvSpPr>
        <p:spPr>
          <a:xfrm>
            <a:off x="914400" y="4846320"/>
            <a:ext cx="2907792" cy="822960"/>
          </a:xfrm>
          <a:prstGeom prst="rect">
            <a:avLst/>
          </a:prstGeom>
          <a:noFill/>
          <a:ln/>
        </p:spPr>
        <p:txBody>
          <a:bodyPr wrap="square" lIns="0" tIns="0" rIns="0" bIns="0" rtlCol="0" anchor="t"/>
          <a:lstStyle/>
          <a:p>
            <a:pPr indent="0" marL="0">
              <a:buNone/>
            </a:pPr>
            <a:r>
              <a:rPr lang="en-US" sz="1500" dirty="0">
                <a:solidFill>
                  <a:schemeClr val="accent5"/>
                </a:solidFill>
              </a:rPr>
              <a:t>Key numbers, charts and personal tips</a:t>
            </a:r>
            <a:endParaRPr lang="en-US" sz="1500" dirty="0"/>
          </a:p>
        </p:txBody>
      </p:sp>
      <p:sp>
        <p:nvSpPr>
          <p:cNvPr id="20" name="page Insights"/>
          <p:cNvSpPr/>
          <p:nvPr/>
        </p:nvSpPr>
        <p:spPr>
          <a:xfrm>
            <a:off x="4370832" y="3977640"/>
            <a:ext cx="3456432" cy="1783080"/>
          </a:xfrm>
          <a:prstGeom prst="roundRect">
            <a:avLst>
              <a:gd name="adj" fmla="val 7692"/>
            </a:avLst>
          </a:prstGeom>
          <a:solidFill>
            <a:schemeClr val="bg1"/>
          </a:solidFill>
          <a:ln w="12700">
            <a:solidFill>
              <a:schemeClr val="accent3"/>
            </a:solidFill>
            <a:prstDash val="solid"/>
          </a:ln>
        </p:spPr>
      </p:sp>
      <p:pic>
        <p:nvPicPr>
          <p:cNvPr id="21" name="Image 4" descr="preencoded.png">    </p:cNvPr>
          <p:cNvPicPr>
            <a:picLocks noChangeAspect="1"/>
          </p:cNvPicPr>
          <p:nvPr/>
        </p:nvPicPr>
        <p:blipFill>
          <a:blip r:embed="rId5"/>
          <a:stretch>
            <a:fillRect/>
          </a:stretch>
        </p:blipFill>
        <p:spPr>
          <a:xfrm>
            <a:off x="4645152" y="4251960"/>
            <a:ext cx="411480" cy="411480"/>
          </a:xfrm>
          <a:prstGeom prst="rect">
            <a:avLst/>
          </a:prstGeom>
        </p:spPr>
      </p:pic>
      <p:sp>
        <p:nvSpPr>
          <p:cNvPr id="22" name="Text 15"/>
          <p:cNvSpPr txBox="1"/>
          <p:nvPr/>
        </p:nvSpPr>
        <p:spPr>
          <a:xfrm>
            <a:off x="5239512" y="4233672"/>
            <a:ext cx="235915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Insights</a:t>
            </a:r>
            <a:endParaRPr lang="en-US" sz="2000" dirty="0"/>
          </a:p>
        </p:txBody>
      </p:sp>
      <p:sp>
        <p:nvSpPr>
          <p:cNvPr id="23" name="Text 16"/>
          <p:cNvSpPr txBox="1"/>
          <p:nvPr/>
        </p:nvSpPr>
        <p:spPr>
          <a:xfrm>
            <a:off x="4645152" y="4846320"/>
            <a:ext cx="2907792" cy="822960"/>
          </a:xfrm>
          <a:prstGeom prst="rect">
            <a:avLst/>
          </a:prstGeom>
          <a:noFill/>
          <a:ln/>
        </p:spPr>
        <p:txBody>
          <a:bodyPr wrap="square" lIns="0" tIns="0" rIns="0" bIns="0" rtlCol="0" anchor="t"/>
          <a:lstStyle/>
          <a:p>
            <a:pPr indent="0" marL="0">
              <a:buNone/>
            </a:pPr>
            <a:r>
              <a:rPr lang="en-US" sz="1500" dirty="0">
                <a:solidFill>
                  <a:schemeClr val="accent5"/>
                </a:solidFill>
              </a:rPr>
              <a:t>Patterns across sessions, like your worst hour</a:t>
            </a:r>
            <a:endParaRPr lang="en-US" sz="1500" dirty="0"/>
          </a:p>
        </p:txBody>
      </p:sp>
      <p:sp>
        <p:nvSpPr>
          <p:cNvPr id="24" name="page About"/>
          <p:cNvSpPr/>
          <p:nvPr/>
        </p:nvSpPr>
        <p:spPr>
          <a:xfrm>
            <a:off x="8101584" y="3977640"/>
            <a:ext cx="3456432" cy="1783080"/>
          </a:xfrm>
          <a:prstGeom prst="roundRect">
            <a:avLst>
              <a:gd name="adj" fmla="val 7692"/>
            </a:avLst>
          </a:prstGeom>
          <a:solidFill>
            <a:schemeClr val="bg1"/>
          </a:solidFill>
          <a:ln w="12700">
            <a:solidFill>
              <a:schemeClr val="accent3"/>
            </a:solidFill>
            <a:prstDash val="solid"/>
          </a:ln>
        </p:spPr>
      </p:sp>
      <p:pic>
        <p:nvPicPr>
          <p:cNvPr id="25" name="Image 5" descr="preencoded.png">    </p:cNvPr>
          <p:cNvPicPr>
            <a:picLocks noChangeAspect="1"/>
          </p:cNvPicPr>
          <p:nvPr/>
        </p:nvPicPr>
        <p:blipFill>
          <a:blip r:embed="rId6"/>
          <a:stretch>
            <a:fillRect/>
          </a:stretch>
        </p:blipFill>
        <p:spPr>
          <a:xfrm>
            <a:off x="8375904" y="4251960"/>
            <a:ext cx="411480" cy="411480"/>
          </a:xfrm>
          <a:prstGeom prst="rect">
            <a:avLst/>
          </a:prstGeom>
        </p:spPr>
      </p:pic>
      <p:sp>
        <p:nvSpPr>
          <p:cNvPr id="26" name="Text 18"/>
          <p:cNvSpPr txBox="1"/>
          <p:nvPr/>
        </p:nvSpPr>
        <p:spPr>
          <a:xfrm>
            <a:off x="8970264" y="4233672"/>
            <a:ext cx="235915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About</a:t>
            </a:r>
            <a:endParaRPr lang="en-US" sz="2000" dirty="0"/>
          </a:p>
        </p:txBody>
      </p:sp>
      <p:sp>
        <p:nvSpPr>
          <p:cNvPr id="27" name="Text 19"/>
          <p:cNvSpPr txBox="1"/>
          <p:nvPr/>
        </p:nvSpPr>
        <p:spPr>
          <a:xfrm>
            <a:off x="8375904" y="4846320"/>
            <a:ext cx="2907792" cy="822960"/>
          </a:xfrm>
          <a:prstGeom prst="rect">
            <a:avLst/>
          </a:prstGeom>
          <a:noFill/>
          <a:ln/>
        </p:spPr>
        <p:txBody>
          <a:bodyPr wrap="square" lIns="0" tIns="0" rIns="0" bIns="0" rtlCol="0" anchor="t"/>
          <a:lstStyle/>
          <a:p>
            <a:pPr indent="0" marL="0">
              <a:buNone/>
            </a:pPr>
            <a:r>
              <a:rPr lang="en-US" sz="1500" dirty="0">
                <a:solidFill>
                  <a:schemeClr val="accent5"/>
                </a:solidFill>
              </a:rPr>
              <a:t>Formulas, privacy and AI usage disclosure</a:t>
            </a:r>
            <a:endParaRPr lang="en-US" sz="1500" dirty="0"/>
          </a:p>
        </p:txBody>
      </p:sp>
      <p:sp>
        <p:nvSpPr>
          <p:cNvPr id="28" name="Text 20"/>
          <p:cNvSpPr txBox="1"/>
          <p:nvPr/>
        </p:nvSpPr>
        <p:spPr>
          <a:xfrm>
            <a:off x="640080" y="5989320"/>
            <a:ext cx="10881360" cy="320040"/>
          </a:xfrm>
          <a:prstGeom prst="rect">
            <a:avLst/>
          </a:prstGeom>
          <a:noFill/>
          <a:ln/>
        </p:spPr>
        <p:txBody>
          <a:bodyPr wrap="square" lIns="0" tIns="0" rIns="0" bIns="0" rtlCol="0" anchor="ctr"/>
          <a:lstStyle/>
          <a:p>
            <a:pPr indent="0" marL="0">
              <a:buNone/>
            </a:pPr>
            <a:r>
              <a:rPr lang="en-US" sz="1400" i="1" dirty="0">
                <a:solidFill>
                  <a:schemeClr val="accent2"/>
                </a:solidFill>
              </a:rPr>
              <a:t>Built with Streamlit, deployed free on Streamlit Community Cloud. Scan the QR code on the last slide to try it.</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lIns="0" tIns="0" rIns="0" bIns="0" rtlCol="0"/>
          <a:lstStyle/>
          <a:p>
            <a:pPr indent="0" marL="0">
              <a:buNone/>
            </a:pPr>
            <a:r>
              <a:rPr lang="en-US" sz="1400" b="1" spc="200" kern="0" dirty="0">
                <a:solidFill>
                  <a:schemeClr val="accent1"/>
                </a:solidFill>
              </a:rPr>
              <a:t>LIVE DEMO</a:t>
            </a: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lIns="0" tIns="0" rIns="0" bIns="0" rtlCol="0" anchor="t"/>
          <a:lstStyle/>
          <a:p>
            <a:pPr algn="l" indent="0" marL="0">
              <a:buNone/>
            </a:pPr>
            <a:r>
              <a:rPr lang="en-US" sz="3600" b="1" dirty="0">
                <a:solidFill>
                  <a:schemeClr val="bg1"/>
                </a:solidFill>
                <a:latin typeface="Arial" pitchFamily="34" charset="0"/>
                <a:ea typeface="Arial" pitchFamily="34" charset="-122"/>
                <a:cs typeface="Arial" pitchFamily="34" charset="-120"/>
              </a:rPr>
              <a:t>Watch EyeGuard catch strain in real time</a:t>
            </a:r>
            <a:endParaRPr lang="en-US" sz="3600" dirty="0"/>
          </a:p>
        </p:txBody>
      </p:sp>
      <p:sp>
        <p:nvSpPr>
          <p:cNvPr id="4" name="demo step 1"/>
          <p:cNvSpPr/>
          <p:nvPr/>
        </p:nvSpPr>
        <p:spPr>
          <a:xfrm>
            <a:off x="640080" y="1874520"/>
            <a:ext cx="10881360" cy="585216"/>
          </a:xfrm>
          <a:prstGeom prst="roundRect">
            <a:avLst>
              <a:gd name="adj" fmla="val 15625"/>
            </a:avLst>
          </a:prstGeom>
          <a:solidFill>
            <a:srgbClr val="174A4D"/>
          </a:solidFill>
          <a:ln/>
        </p:spPr>
      </p:sp>
      <p:sp>
        <p:nvSpPr>
          <p:cNvPr id="5" name="Text 3"/>
          <p:cNvSpPr txBox="1"/>
          <p:nvPr/>
        </p:nvSpPr>
        <p:spPr>
          <a:xfrm>
            <a:off x="914400" y="1874520"/>
            <a:ext cx="457200" cy="585216"/>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1</a:t>
            </a:r>
            <a:endParaRPr lang="en-US" sz="2200" dirty="0"/>
          </a:p>
        </p:txBody>
      </p:sp>
      <p:sp>
        <p:nvSpPr>
          <p:cNvPr id="6" name="Text 4"/>
          <p:cNvSpPr txBox="1"/>
          <p:nvPr/>
        </p:nvSpPr>
        <p:spPr>
          <a:xfrm>
            <a:off x="1554480" y="1874520"/>
            <a:ext cx="9692640" cy="585216"/>
          </a:xfrm>
          <a:prstGeom prst="rect">
            <a:avLst/>
          </a:prstGeom>
          <a:noFill/>
          <a:ln/>
        </p:spPr>
        <p:txBody>
          <a:bodyPr wrap="square" lIns="0" tIns="0" rIns="0" bIns="0" rtlCol="0" anchor="ctr"/>
          <a:lstStyle/>
          <a:p>
            <a:pPr indent="0" marL="0">
              <a:buNone/>
            </a:pPr>
            <a:r>
              <a:rPr lang="en-US" sz="1800" dirty="0">
                <a:solidFill>
                  <a:schemeClr val="bg1"/>
                </a:solidFill>
              </a:rPr>
              <a:t>Start EyeGuard: the blink count appears live</a:t>
            </a:r>
            <a:endParaRPr lang="en-US" sz="1800" dirty="0"/>
          </a:p>
        </p:txBody>
      </p:sp>
      <p:sp>
        <p:nvSpPr>
          <p:cNvPr id="7" name="demo step 2"/>
          <p:cNvSpPr/>
          <p:nvPr/>
        </p:nvSpPr>
        <p:spPr>
          <a:xfrm>
            <a:off x="640080" y="2587752"/>
            <a:ext cx="10881360" cy="585216"/>
          </a:xfrm>
          <a:prstGeom prst="roundRect">
            <a:avLst>
              <a:gd name="adj" fmla="val 15625"/>
            </a:avLst>
          </a:prstGeom>
          <a:solidFill>
            <a:srgbClr val="174A4D"/>
          </a:solidFill>
          <a:ln/>
        </p:spPr>
      </p:sp>
      <p:sp>
        <p:nvSpPr>
          <p:cNvPr id="8" name="Text 6"/>
          <p:cNvSpPr txBox="1"/>
          <p:nvPr/>
        </p:nvSpPr>
        <p:spPr>
          <a:xfrm>
            <a:off x="914400" y="2587752"/>
            <a:ext cx="457200" cy="585216"/>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2</a:t>
            </a:r>
            <a:endParaRPr lang="en-US" sz="2200" dirty="0"/>
          </a:p>
        </p:txBody>
      </p:sp>
      <p:sp>
        <p:nvSpPr>
          <p:cNvPr id="9" name="Text 7"/>
          <p:cNvSpPr txBox="1"/>
          <p:nvPr/>
        </p:nvSpPr>
        <p:spPr>
          <a:xfrm>
            <a:off x="1554480" y="2587752"/>
            <a:ext cx="9692640" cy="585216"/>
          </a:xfrm>
          <a:prstGeom prst="rect">
            <a:avLst/>
          </a:prstGeom>
          <a:noFill/>
          <a:ln/>
        </p:spPr>
        <p:txBody>
          <a:bodyPr wrap="square" lIns="0" tIns="0" rIns="0" bIns="0" rtlCol="0" anchor="ctr"/>
          <a:lstStyle/>
          <a:p>
            <a:pPr indent="0" marL="0">
              <a:buNone/>
            </a:pPr>
            <a:r>
              <a:rPr lang="en-US" sz="1800" dirty="0">
                <a:solidFill>
                  <a:schemeClr val="bg1"/>
                </a:solidFill>
              </a:rPr>
              <a:t>Stare without blinking: the low-blink alert fires</a:t>
            </a:r>
            <a:endParaRPr lang="en-US" sz="1800" dirty="0"/>
          </a:p>
        </p:txBody>
      </p:sp>
      <p:sp>
        <p:nvSpPr>
          <p:cNvPr id="10" name="demo step 3"/>
          <p:cNvSpPr/>
          <p:nvPr/>
        </p:nvSpPr>
        <p:spPr>
          <a:xfrm>
            <a:off x="640080" y="3300984"/>
            <a:ext cx="10881360" cy="585216"/>
          </a:xfrm>
          <a:prstGeom prst="roundRect">
            <a:avLst>
              <a:gd name="adj" fmla="val 15625"/>
            </a:avLst>
          </a:prstGeom>
          <a:solidFill>
            <a:srgbClr val="174A4D"/>
          </a:solidFill>
          <a:ln/>
        </p:spPr>
      </p:sp>
      <p:sp>
        <p:nvSpPr>
          <p:cNvPr id="11" name="Text 9"/>
          <p:cNvSpPr txBox="1"/>
          <p:nvPr/>
        </p:nvSpPr>
        <p:spPr>
          <a:xfrm>
            <a:off x="914400" y="3300984"/>
            <a:ext cx="457200" cy="585216"/>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3</a:t>
            </a:r>
            <a:endParaRPr lang="en-US" sz="2200" dirty="0"/>
          </a:p>
        </p:txBody>
      </p:sp>
      <p:sp>
        <p:nvSpPr>
          <p:cNvPr id="12" name="Text 10"/>
          <p:cNvSpPr txBox="1"/>
          <p:nvPr/>
        </p:nvSpPr>
        <p:spPr>
          <a:xfrm>
            <a:off x="1554480" y="3300984"/>
            <a:ext cx="9692640" cy="585216"/>
          </a:xfrm>
          <a:prstGeom prst="rect">
            <a:avLst/>
          </a:prstGeom>
          <a:noFill/>
          <a:ln/>
        </p:spPr>
        <p:txBody>
          <a:bodyPr wrap="square" lIns="0" tIns="0" rIns="0" bIns="0" rtlCol="0" anchor="ctr"/>
          <a:lstStyle/>
          <a:p>
            <a:pPr indent="0" marL="0">
              <a:buNone/>
            </a:pPr>
            <a:r>
              <a:rPr lang="en-US" sz="1800" dirty="0">
                <a:solidFill>
                  <a:schemeClr val="bg1"/>
                </a:solidFill>
              </a:rPr>
              <a:t>Lean in: "Too close!" shows the distance in cm</a:t>
            </a:r>
            <a:endParaRPr lang="en-US" sz="1800" dirty="0"/>
          </a:p>
        </p:txBody>
      </p:sp>
      <p:sp>
        <p:nvSpPr>
          <p:cNvPr id="13" name="demo step 4"/>
          <p:cNvSpPr/>
          <p:nvPr/>
        </p:nvSpPr>
        <p:spPr>
          <a:xfrm>
            <a:off x="640080" y="4014216"/>
            <a:ext cx="10881360" cy="585216"/>
          </a:xfrm>
          <a:prstGeom prst="roundRect">
            <a:avLst>
              <a:gd name="adj" fmla="val 15625"/>
            </a:avLst>
          </a:prstGeom>
          <a:solidFill>
            <a:srgbClr val="174A4D"/>
          </a:solidFill>
          <a:ln/>
        </p:spPr>
      </p:sp>
      <p:sp>
        <p:nvSpPr>
          <p:cNvPr id="14" name="Text 12"/>
          <p:cNvSpPr txBox="1"/>
          <p:nvPr/>
        </p:nvSpPr>
        <p:spPr>
          <a:xfrm>
            <a:off x="914400" y="4014216"/>
            <a:ext cx="457200" cy="585216"/>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4</a:t>
            </a:r>
            <a:endParaRPr lang="en-US" sz="2200" dirty="0"/>
          </a:p>
        </p:txBody>
      </p:sp>
      <p:sp>
        <p:nvSpPr>
          <p:cNvPr id="15" name="Text 13"/>
          <p:cNvSpPr txBox="1"/>
          <p:nvPr/>
        </p:nvSpPr>
        <p:spPr>
          <a:xfrm>
            <a:off x="1554480" y="4014216"/>
            <a:ext cx="9692640" cy="585216"/>
          </a:xfrm>
          <a:prstGeom prst="rect">
            <a:avLst/>
          </a:prstGeom>
          <a:noFill/>
          <a:ln/>
        </p:spPr>
        <p:txBody>
          <a:bodyPr wrap="square" lIns="0" tIns="0" rIns="0" bIns="0" rtlCol="0" anchor="ctr"/>
          <a:lstStyle/>
          <a:p>
            <a:pPr indent="0" marL="0">
              <a:buNone/>
            </a:pPr>
            <a:r>
              <a:rPr lang="en-US" sz="1800" dirty="0">
                <a:solidFill>
                  <a:schemeClr val="bg1"/>
                </a:solidFill>
              </a:rPr>
              <a:t>Break time: keep looking at the screen and the timer pauses</a:t>
            </a:r>
            <a:endParaRPr lang="en-US" sz="1800" dirty="0"/>
          </a:p>
        </p:txBody>
      </p:sp>
      <p:sp>
        <p:nvSpPr>
          <p:cNvPr id="16" name="demo step 5"/>
          <p:cNvSpPr/>
          <p:nvPr/>
        </p:nvSpPr>
        <p:spPr>
          <a:xfrm>
            <a:off x="640080" y="4727448"/>
            <a:ext cx="10881360" cy="585216"/>
          </a:xfrm>
          <a:prstGeom prst="roundRect">
            <a:avLst>
              <a:gd name="adj" fmla="val 15625"/>
            </a:avLst>
          </a:prstGeom>
          <a:solidFill>
            <a:srgbClr val="174A4D"/>
          </a:solidFill>
          <a:ln/>
        </p:spPr>
      </p:sp>
      <p:sp>
        <p:nvSpPr>
          <p:cNvPr id="17" name="Text 15"/>
          <p:cNvSpPr txBox="1"/>
          <p:nvPr/>
        </p:nvSpPr>
        <p:spPr>
          <a:xfrm>
            <a:off x="914400" y="4727448"/>
            <a:ext cx="457200" cy="585216"/>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5</a:t>
            </a:r>
            <a:endParaRPr lang="en-US" sz="2200" dirty="0"/>
          </a:p>
        </p:txBody>
      </p:sp>
      <p:sp>
        <p:nvSpPr>
          <p:cNvPr id="18" name="Text 16"/>
          <p:cNvSpPr txBox="1"/>
          <p:nvPr/>
        </p:nvSpPr>
        <p:spPr>
          <a:xfrm>
            <a:off x="1554480" y="4727448"/>
            <a:ext cx="9692640" cy="585216"/>
          </a:xfrm>
          <a:prstGeom prst="rect">
            <a:avLst/>
          </a:prstGeom>
          <a:noFill/>
          <a:ln/>
        </p:spPr>
        <p:txBody>
          <a:bodyPr wrap="square" lIns="0" tIns="0" rIns="0" bIns="0" rtlCol="0" anchor="ctr"/>
          <a:lstStyle/>
          <a:p>
            <a:pPr indent="0" marL="0">
              <a:buNone/>
            </a:pPr>
            <a:r>
              <a:rPr lang="en-US" sz="1800" dirty="0">
                <a:solidFill>
                  <a:schemeClr val="bg1"/>
                </a:solidFill>
              </a:rPr>
              <a:t>Switch to background mode: a corner notification pops up</a:t>
            </a:r>
            <a:endParaRPr lang="en-US" sz="1800" dirty="0"/>
          </a:p>
        </p:txBody>
      </p:sp>
      <p:sp>
        <p:nvSpPr>
          <p:cNvPr id="19" name="demo step 6"/>
          <p:cNvSpPr/>
          <p:nvPr/>
        </p:nvSpPr>
        <p:spPr>
          <a:xfrm>
            <a:off x="640080" y="5440680"/>
            <a:ext cx="10881360" cy="585216"/>
          </a:xfrm>
          <a:prstGeom prst="roundRect">
            <a:avLst>
              <a:gd name="adj" fmla="val 15625"/>
            </a:avLst>
          </a:prstGeom>
          <a:solidFill>
            <a:srgbClr val="174A4D"/>
          </a:solidFill>
          <a:ln/>
        </p:spPr>
      </p:sp>
      <p:sp>
        <p:nvSpPr>
          <p:cNvPr id="20" name="Text 18"/>
          <p:cNvSpPr txBox="1"/>
          <p:nvPr/>
        </p:nvSpPr>
        <p:spPr>
          <a:xfrm>
            <a:off x="914400" y="5440680"/>
            <a:ext cx="457200" cy="585216"/>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6</a:t>
            </a:r>
            <a:endParaRPr lang="en-US" sz="2200" dirty="0"/>
          </a:p>
        </p:txBody>
      </p:sp>
      <p:sp>
        <p:nvSpPr>
          <p:cNvPr id="21" name="Text 19"/>
          <p:cNvSpPr txBox="1"/>
          <p:nvPr/>
        </p:nvSpPr>
        <p:spPr>
          <a:xfrm>
            <a:off x="1554480" y="5440680"/>
            <a:ext cx="9692640" cy="585216"/>
          </a:xfrm>
          <a:prstGeom prst="rect">
            <a:avLst/>
          </a:prstGeom>
          <a:noFill/>
          <a:ln/>
        </p:spPr>
        <p:txBody>
          <a:bodyPr wrap="square" lIns="0" tIns="0" rIns="0" bIns="0" rtlCol="0" anchor="ctr"/>
          <a:lstStyle/>
          <a:p>
            <a:pPr indent="0" marL="0">
              <a:buNone/>
            </a:pPr>
            <a:r>
              <a:rPr lang="en-US" sz="1800" dirty="0">
                <a:solidFill>
                  <a:schemeClr val="bg1"/>
                </a:solidFill>
              </a:rPr>
              <a:t>Open the website dashboard and strain score</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lIns="0" tIns="0" rIns="0" bIns="0" rtlCol="0"/>
          <a:lstStyle/>
          <a:p>
            <a:pPr indent="0" marL="0">
              <a:buNone/>
            </a:pPr>
            <a:r>
              <a:rPr lang="en-US" sz="1400" b="1" spc="200" kern="0" dirty="0">
                <a:solidFill>
                  <a:schemeClr val="accent6"/>
                </a:solidFill>
              </a:rPr>
              <a:t>WHAT MAKES IT DIFFERENT</a:t>
            </a: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lIns="0" tIns="0" rIns="0" bIns="0" rtlCol="0" anchor="t"/>
          <a:lstStyle/>
          <a:p>
            <a:pPr algn="l" indent="0" marL="0">
              <a:buNone/>
            </a:pPr>
            <a:r>
              <a:rPr lang="en-US" sz="3600" b="1" dirty="0">
                <a:solidFill>
                  <a:schemeClr val="tx2"/>
                </a:solidFill>
                <a:latin typeface="Arial" pitchFamily="34" charset="0"/>
                <a:ea typeface="Arial" pitchFamily="34" charset="-122"/>
                <a:cs typeface="Arial" pitchFamily="34" charset="-120"/>
              </a:rPr>
              <a:t>It checks that you actually rest</a:t>
            </a:r>
            <a:endParaRPr lang="en-US" sz="3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2011680"/>
          <a:ext cx="10881360" cy="914400"/>
        </p:xfrm>
        <a:graphic>
          <a:graphicData uri="http://schemas.openxmlformats.org/drawingml/2006/table">
            <a:tbl>
              <a:tblPr/>
              <a:tblGrid>
                <a:gridCol w="4480560"/>
                <a:gridCol w="3200400"/>
                <a:gridCol w="3200400"/>
              </a:tblGrid>
              <a:tr h="502920">
                <a:tc>
                  <a:txBody>
                    <a:bodyPr/>
                    <a:lstStyle/>
                    <a:p>
                      <a:pPr indent="0" marL="0">
                        <a:buNone/>
                      </a:pPr>
                      <a:r>
                        <a:rPr lang="en-US" sz="1700" b="1" dirty="0">
                          <a:solidFill>
                            <a:schemeClr val="bg1"/>
                          </a:solidFill>
                        </a:rPr>
                        <a:t>Feature</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Typical break timer</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EyeGuard</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tx2"/>
                    </a:solidFill>
                  </a:tcPr>
                </a:tc>
              </a:tr>
              <a:tr h="502920">
                <a:tc>
                  <a:txBody>
                    <a:bodyPr/>
                    <a:lstStyle/>
                    <a:p>
                      <a:pPr indent="0" marL="0">
                        <a:buNone/>
                      </a:pPr>
                      <a:r>
                        <a:rPr lang="en-US" sz="1700" dirty="0">
                          <a:solidFill>
                            <a:schemeClr val="tx1"/>
                          </a:solidFill>
                        </a:rPr>
                        <a:t>Reminds you to rest</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Yes</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bg1"/>
                    </a:solidFill>
                  </a:tcPr>
                </a:tc>
                <a:tc>
                  <a:txBody>
                    <a:bodyPr/>
                    <a:lstStyle/>
                    <a:p>
                      <a:pPr indent="0" marL="0">
                        <a:buNone/>
                      </a:pPr>
                      <a:r>
                        <a:rPr lang="en-US" sz="1700" b="1" dirty="0">
                          <a:solidFill>
                            <a:schemeClr val="tx2"/>
                          </a:solidFill>
                        </a:rPr>
                        <a:t>Yes</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bg1"/>
                    </a:solidFill>
                  </a:tcPr>
                </a:tc>
              </a:tr>
              <a:tr h="502920">
                <a:tc>
                  <a:txBody>
                    <a:bodyPr/>
                    <a:lstStyle/>
                    <a:p>
                      <a:pPr indent="0" marL="0">
                        <a:buNone/>
                      </a:pPr>
                      <a:r>
                        <a:rPr lang="en-US" sz="1700" dirty="0">
                          <a:solidFill>
                            <a:schemeClr val="tx1"/>
                          </a:solidFill>
                        </a:rPr>
                        <a:t>Checks you looked away</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accent4"/>
                    </a:solidFill>
                  </a:tcPr>
                </a:tc>
                <a:tc>
                  <a:txBody>
                    <a:bodyPr/>
                    <a:lstStyle/>
                    <a:p>
                      <a:pPr indent="0" marL="0">
                        <a:buNone/>
                      </a:pPr>
                      <a:r>
                        <a:rPr lang="en-US" sz="1700" dirty="0">
                          <a:solidFill>
                            <a:schemeClr val="tx1"/>
                          </a:solidFill>
                        </a:rPr>
                        <a:t>No</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accent4"/>
                    </a:solidFill>
                  </a:tcPr>
                </a:tc>
                <a:tc>
                  <a:txBody>
                    <a:bodyPr/>
                    <a:lstStyle/>
                    <a:p>
                      <a:pPr indent="0" marL="0">
                        <a:buNone/>
                      </a:pPr>
                      <a:r>
                        <a:rPr lang="en-US" sz="1700" b="1" dirty="0">
                          <a:solidFill>
                            <a:schemeClr val="tx2"/>
                          </a:solidFill>
                        </a:rPr>
                        <a:t>Yes, with the camera</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accent4"/>
                    </a:solidFill>
                  </a:tcPr>
                </a:tc>
              </a:tr>
              <a:tr h="502920">
                <a:tc>
                  <a:txBody>
                    <a:bodyPr/>
                    <a:lstStyle/>
                    <a:p>
                      <a:pPr indent="0" marL="0">
                        <a:buNone/>
                      </a:pPr>
                      <a:r>
                        <a:rPr lang="en-US" sz="1700" dirty="0">
                          <a:solidFill>
                            <a:schemeClr val="tx1"/>
                          </a:solidFill>
                        </a:rPr>
                        <a:t>Measures blink rate</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No</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bg1"/>
                    </a:solidFill>
                  </a:tcPr>
                </a:tc>
                <a:tc>
                  <a:txBody>
                    <a:bodyPr/>
                    <a:lstStyle/>
                    <a:p>
                      <a:pPr indent="0" marL="0">
                        <a:buNone/>
                      </a:pPr>
                      <a:r>
                        <a:rPr lang="en-US" sz="1700" b="1" dirty="0">
                          <a:solidFill>
                            <a:schemeClr val="tx2"/>
                          </a:solidFill>
                        </a:rPr>
                        <a:t>Yes, live</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bg1"/>
                    </a:solidFill>
                  </a:tcPr>
                </a:tc>
              </a:tr>
              <a:tr h="502920">
                <a:tc>
                  <a:txBody>
                    <a:bodyPr/>
                    <a:lstStyle/>
                    <a:p>
                      <a:pPr indent="0" marL="0">
                        <a:buNone/>
                      </a:pPr>
                      <a:r>
                        <a:rPr lang="en-US" sz="1700" dirty="0">
                          <a:solidFill>
                            <a:schemeClr val="tx1"/>
                          </a:solidFill>
                        </a:rPr>
                        <a:t>Measures screen distance</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accent4"/>
                    </a:solidFill>
                  </a:tcPr>
                </a:tc>
                <a:tc>
                  <a:txBody>
                    <a:bodyPr/>
                    <a:lstStyle/>
                    <a:p>
                      <a:pPr indent="0" marL="0">
                        <a:buNone/>
                      </a:pPr>
                      <a:r>
                        <a:rPr lang="en-US" sz="1700" dirty="0">
                          <a:solidFill>
                            <a:schemeClr val="tx1"/>
                          </a:solidFill>
                        </a:rPr>
                        <a:t>No</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accent4"/>
                    </a:solidFill>
                  </a:tcPr>
                </a:tc>
                <a:tc>
                  <a:txBody>
                    <a:bodyPr/>
                    <a:lstStyle/>
                    <a:p>
                      <a:pPr indent="0" marL="0">
                        <a:buNone/>
                      </a:pPr>
                      <a:r>
                        <a:rPr lang="en-US" sz="1700" b="1" dirty="0">
                          <a:solidFill>
                            <a:schemeClr val="tx2"/>
                          </a:solidFill>
                        </a:rPr>
                        <a:t>Yes, in cm</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accent4"/>
                    </a:solidFill>
                  </a:tcPr>
                </a:tc>
              </a:tr>
              <a:tr h="502920">
                <a:tc>
                  <a:txBody>
                    <a:bodyPr/>
                    <a:lstStyle/>
                    <a:p>
                      <a:pPr indent="0" marL="0">
                        <a:buNone/>
                      </a:pPr>
                      <a:r>
                        <a:rPr lang="en-US" sz="1700" dirty="0">
                          <a:solidFill>
                            <a:schemeClr val="tx1"/>
                          </a:solidFill>
                        </a:rPr>
                        <a:t>Works for glasses wearers</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Not applicable</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bg1"/>
                    </a:solidFill>
                  </a:tcPr>
                </a:tc>
                <a:tc>
                  <a:txBody>
                    <a:bodyPr/>
                    <a:lstStyle/>
                    <a:p>
                      <a:pPr indent="0" marL="0">
                        <a:buNone/>
                      </a:pPr>
                      <a:r>
                        <a:rPr lang="en-US" sz="1700" b="1" dirty="0">
                          <a:solidFill>
                            <a:schemeClr val="tx2"/>
                          </a:solidFill>
                        </a:rPr>
                        <a:t>Yes, power-aware calibration</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bg1"/>
                    </a:solidFill>
                  </a:tcPr>
                </a:tc>
              </a:tr>
              <a:tr h="502920">
                <a:tc>
                  <a:txBody>
                    <a:bodyPr/>
                    <a:lstStyle/>
                    <a:p>
                      <a:pPr indent="0" marL="0">
                        <a:buNone/>
                      </a:pPr>
                      <a:r>
                        <a:rPr lang="en-US" sz="1700" dirty="0">
                          <a:solidFill>
                            <a:schemeClr val="tx1"/>
                          </a:solidFill>
                        </a:rPr>
                        <a:t>Runs in the background</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accent4"/>
                    </a:solidFill>
                  </a:tcPr>
                </a:tc>
                <a:tc>
                  <a:txBody>
                    <a:bodyPr/>
                    <a:lstStyle/>
                    <a:p>
                      <a:pPr indent="0" marL="0">
                        <a:buNone/>
                      </a:pPr>
                      <a:r>
                        <a:rPr lang="en-US" sz="1700" dirty="0">
                          <a:solidFill>
                            <a:schemeClr val="tx1"/>
                          </a:solidFill>
                        </a:rPr>
                        <a:t>Yes</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accent4"/>
                    </a:solidFill>
                  </a:tcPr>
                </a:tc>
                <a:tc>
                  <a:txBody>
                    <a:bodyPr/>
                    <a:lstStyle/>
                    <a:p>
                      <a:pPr indent="0" marL="0">
                        <a:buNone/>
                      </a:pPr>
                      <a:r>
                        <a:rPr lang="en-US" sz="1700" b="1" dirty="0">
                          <a:solidFill>
                            <a:schemeClr val="tx2"/>
                          </a:solidFill>
                        </a:rPr>
                        <a:t>Yes, with verified breaks</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accent4"/>
                    </a:solidFill>
                  </a:tcPr>
                </a:tc>
              </a:tr>
              <a:tr h="502920">
                <a:tc>
                  <a:txBody>
                    <a:bodyPr/>
                    <a:lstStyle/>
                    <a:p>
                      <a:pPr indent="0" marL="0">
                        <a:buNone/>
                      </a:pPr>
                      <a:r>
                        <a:rPr lang="en-US" sz="1700" dirty="0">
                          <a:solidFill>
                            <a:schemeClr val="tx1"/>
                          </a:solidFill>
                        </a:rPr>
                        <a:t>Extra hardware needed</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None</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bg1"/>
                    </a:solidFill>
                  </a:tcPr>
                </a:tc>
                <a:tc>
                  <a:txBody>
                    <a:bodyPr/>
                    <a:lstStyle/>
                    <a:p>
                      <a:pPr indent="0" marL="0">
                        <a:buNone/>
                      </a:pPr>
                      <a:r>
                        <a:rPr lang="en-US" sz="1700" b="1" dirty="0">
                          <a:solidFill>
                            <a:schemeClr val="tx2"/>
                          </a:solidFill>
                        </a:rPr>
                        <a:t>None, just a webcam</a:t>
                      </a:r>
                      <a:endParaRPr lang="en-US" sz="1700" dirty="0"/>
                    </a:p>
                  </a:txBody>
                  <a:tcPr marL="137160" marR="137160" marT="0" marB="0" anchor="ctr">
                    <a:lnL w="12700" cap="flat" cmpd="sng" algn="ctr">
                      <a:solidFill>
                        <a:srgbClr val="BFD8D5"/>
                      </a:solidFill>
                      <a:prstDash val="solid"/>
                      <a:round/>
                      <a:headEnd type="none" w="med" len="med"/>
                      <a:tailEnd type="none" w="med" len="med"/>
                    </a:lnL>
                    <a:lnR w="12700" cap="flat" cmpd="sng" algn="ctr">
                      <a:solidFill>
                        <a:srgbClr val="BFD8D5"/>
                      </a:solidFill>
                      <a:prstDash val="solid"/>
                      <a:round/>
                      <a:headEnd type="none" w="med" len="med"/>
                      <a:tailEnd type="none" w="med" len="med"/>
                    </a:lnR>
                    <a:lnT w="12700" cap="flat" cmpd="sng" algn="ctr">
                      <a:solidFill>
                        <a:srgbClr val="BFD8D5"/>
                      </a:solidFill>
                      <a:prstDash val="solid"/>
                      <a:round/>
                      <a:headEnd type="none" w="med" len="med"/>
                      <a:tailEnd type="none" w="med" len="med"/>
                    </a:lnT>
                    <a:lnB w="12700" cap="flat" cmpd="sng" algn="ctr">
                      <a:solidFill>
                        <a:srgbClr val="BFD8D5"/>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11535" cy="365760"/>
          </a:xfrm>
          <a:prstGeom prst="rect">
            <a:avLst/>
          </a:prstGeom>
          <a:noFill/>
          <a:ln/>
        </p:spPr>
        <p:txBody>
          <a:bodyPr wrap="square" lIns="0" tIns="0" rIns="0" bIns="0" rtlCol="0"/>
          <a:lstStyle/>
          <a:p>
            <a:pPr indent="0" marL="0">
              <a:buNone/>
            </a:pPr>
            <a:r>
              <a:rPr lang="en-US" sz="1400" b="1" spc="200" kern="0" dirty="0">
                <a:solidFill>
                  <a:schemeClr val="accent6"/>
                </a:solidFill>
              </a:rPr>
              <a:t>FUTURE SCOPE</a:t>
            </a:r>
            <a:endParaRPr lang="en-US" sz="1400" dirty="0"/>
          </a:p>
        </p:txBody>
      </p:sp>
      <p:sp>
        <p:nvSpPr>
          <p:cNvPr id="3" name="Text 0"/>
          <p:cNvSpPr/>
          <p:nvPr>
            <p:ph idx="101" type="title" hasCustomPrompt="1"/>
          </p:nvPr>
        </p:nvSpPr>
        <p:spPr>
          <a:xfrm>
            <a:off x="640080" y="777240"/>
            <a:ext cx="10911535" cy="914400"/>
          </a:xfrm>
          <a:prstGeom prst="rect">
            <a:avLst/>
          </a:prstGeom>
          <a:noFill/>
          <a:ln/>
        </p:spPr>
        <p:txBody>
          <a:bodyPr wrap="square" lIns="0" tIns="0" rIns="0" bIns="0" rtlCol="0" anchor="t"/>
          <a:lstStyle/>
          <a:p>
            <a:pPr algn="l" indent="0" marL="0">
              <a:buNone/>
            </a:pPr>
            <a:r>
              <a:rPr lang="en-US" sz="3600" b="1" dirty="0">
                <a:solidFill>
                  <a:schemeClr val="tx2"/>
                </a:solidFill>
                <a:latin typeface="Arial" pitchFamily="34" charset="0"/>
                <a:ea typeface="Arial" pitchFamily="34" charset="-122"/>
                <a:cs typeface="Arial" pitchFamily="34" charset="-120"/>
              </a:rPr>
              <a:t>From one laptop to the whole campus</a:t>
            </a:r>
            <a:endParaRPr lang="en-US" sz="3600" dirty="0"/>
          </a:p>
        </p:txBody>
      </p:sp>
      <p:sp>
        <p:nvSpPr>
          <p:cNvPr id="4" name="future Guided eye exercises"/>
          <p:cNvSpPr/>
          <p:nvPr/>
        </p:nvSpPr>
        <p:spPr>
          <a:xfrm>
            <a:off x="640080" y="1920240"/>
            <a:ext cx="3456432" cy="2286000"/>
          </a:xfrm>
          <a:prstGeom prst="roundRect">
            <a:avLst>
              <a:gd name="adj" fmla="val 6000"/>
            </a:avLst>
          </a:prstGeom>
          <a:solidFill>
            <a:schemeClr val="bg1"/>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914400" y="2194560"/>
            <a:ext cx="457200" cy="457200"/>
          </a:xfrm>
          <a:prstGeom prst="rect">
            <a:avLst/>
          </a:prstGeom>
        </p:spPr>
      </p:pic>
      <p:sp>
        <p:nvSpPr>
          <p:cNvPr id="6" name="Text 3"/>
          <p:cNvSpPr txBox="1"/>
          <p:nvPr/>
        </p:nvSpPr>
        <p:spPr>
          <a:xfrm>
            <a:off x="914400" y="2788920"/>
            <a:ext cx="290779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Guided eye exercises</a:t>
            </a:r>
            <a:endParaRPr lang="en-US" sz="2000" dirty="0"/>
          </a:p>
        </p:txBody>
      </p:sp>
      <p:sp>
        <p:nvSpPr>
          <p:cNvPr id="7" name="Text 4"/>
          <p:cNvSpPr txBox="1"/>
          <p:nvPr/>
        </p:nvSpPr>
        <p:spPr>
          <a:xfrm>
            <a:off x="914400" y="3291840"/>
            <a:ext cx="2907792" cy="822960"/>
          </a:xfrm>
          <a:prstGeom prst="rect">
            <a:avLst/>
          </a:prstGeom>
          <a:noFill/>
          <a:ln/>
        </p:spPr>
        <p:txBody>
          <a:bodyPr wrap="square" lIns="0" tIns="0" rIns="0" bIns="0" rtlCol="0" anchor="t"/>
          <a:lstStyle/>
          <a:p>
            <a:pPr indent="0" marL="0">
              <a:buNone/>
            </a:pPr>
            <a:r>
              <a:rPr lang="en-US" sz="1500" dirty="0">
                <a:solidFill>
                  <a:schemeClr val="accent5"/>
                </a:solidFill>
              </a:rPr>
              <a:t>Camera-checked eye movements during breaks.</a:t>
            </a:r>
            <a:endParaRPr lang="en-US" sz="1500" dirty="0"/>
          </a:p>
        </p:txBody>
      </p:sp>
      <p:sp>
        <p:nvSpPr>
          <p:cNvPr id="8" name="future Mobile and browser"/>
          <p:cNvSpPr/>
          <p:nvPr/>
        </p:nvSpPr>
        <p:spPr>
          <a:xfrm>
            <a:off x="4370832" y="1920240"/>
            <a:ext cx="3456432" cy="2286000"/>
          </a:xfrm>
          <a:prstGeom prst="roundRect">
            <a:avLst>
              <a:gd name="adj" fmla="val 6000"/>
            </a:avLst>
          </a:prstGeom>
          <a:solidFill>
            <a:schemeClr val="bg1"/>
          </a:solidFill>
          <a:ln w="12700">
            <a:solidFill>
              <a:schemeClr val="accent3"/>
            </a:solidFill>
            <a:prstDash val="solid"/>
          </a:ln>
        </p:spPr>
      </p:sp>
      <p:pic>
        <p:nvPicPr>
          <p:cNvPr id="9" name="Image 1" descr="preencoded.png">    </p:cNvPr>
          <p:cNvPicPr>
            <a:picLocks noChangeAspect="1"/>
          </p:cNvPicPr>
          <p:nvPr/>
        </p:nvPicPr>
        <p:blipFill>
          <a:blip r:embed="rId2"/>
          <a:stretch>
            <a:fillRect/>
          </a:stretch>
        </p:blipFill>
        <p:spPr>
          <a:xfrm>
            <a:off x="4645152" y="2194560"/>
            <a:ext cx="457200" cy="457200"/>
          </a:xfrm>
          <a:prstGeom prst="rect">
            <a:avLst/>
          </a:prstGeom>
        </p:spPr>
      </p:pic>
      <p:sp>
        <p:nvSpPr>
          <p:cNvPr id="10" name="Text 6"/>
          <p:cNvSpPr txBox="1"/>
          <p:nvPr/>
        </p:nvSpPr>
        <p:spPr>
          <a:xfrm>
            <a:off x="4645152" y="2788920"/>
            <a:ext cx="290779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Mobile and browser</a:t>
            </a:r>
            <a:endParaRPr lang="en-US" sz="2000" dirty="0"/>
          </a:p>
        </p:txBody>
      </p:sp>
      <p:sp>
        <p:nvSpPr>
          <p:cNvPr id="11" name="Text 7"/>
          <p:cNvSpPr txBox="1"/>
          <p:nvPr/>
        </p:nvSpPr>
        <p:spPr>
          <a:xfrm>
            <a:off x="4645152" y="3291840"/>
            <a:ext cx="2907792" cy="822960"/>
          </a:xfrm>
          <a:prstGeom prst="rect">
            <a:avLst/>
          </a:prstGeom>
          <a:noFill/>
          <a:ln/>
        </p:spPr>
        <p:txBody>
          <a:bodyPr wrap="square" lIns="0" tIns="0" rIns="0" bIns="0" rtlCol="0" anchor="t"/>
          <a:lstStyle/>
          <a:p>
            <a:pPr indent="0" marL="0">
              <a:buNone/>
            </a:pPr>
            <a:r>
              <a:rPr lang="en-US" sz="1500" dirty="0">
                <a:solidFill>
                  <a:schemeClr val="accent5"/>
                </a:solidFill>
              </a:rPr>
              <a:t>A phone app and a browser extension for online classes.</a:t>
            </a:r>
            <a:endParaRPr lang="en-US" sz="1500" dirty="0"/>
          </a:p>
        </p:txBody>
      </p:sp>
      <p:sp>
        <p:nvSpPr>
          <p:cNvPr id="12" name="future Campus insights"/>
          <p:cNvSpPr/>
          <p:nvPr/>
        </p:nvSpPr>
        <p:spPr>
          <a:xfrm>
            <a:off x="8101584" y="1920240"/>
            <a:ext cx="3456432" cy="2286000"/>
          </a:xfrm>
          <a:prstGeom prst="roundRect">
            <a:avLst>
              <a:gd name="adj" fmla="val 6000"/>
            </a:avLst>
          </a:prstGeom>
          <a:solidFill>
            <a:schemeClr val="bg1"/>
          </a:solidFill>
          <a:ln w="12700">
            <a:solidFill>
              <a:schemeClr val="accent3"/>
            </a:solidFill>
            <a:prstDash val="solid"/>
          </a:ln>
        </p:spPr>
      </p:sp>
      <p:pic>
        <p:nvPicPr>
          <p:cNvPr id="13" name="Image 2" descr="preencoded.png">    </p:cNvPr>
          <p:cNvPicPr>
            <a:picLocks noChangeAspect="1"/>
          </p:cNvPicPr>
          <p:nvPr/>
        </p:nvPicPr>
        <p:blipFill>
          <a:blip r:embed="rId3"/>
          <a:stretch>
            <a:fillRect/>
          </a:stretch>
        </p:blipFill>
        <p:spPr>
          <a:xfrm>
            <a:off x="8375904" y="2194560"/>
            <a:ext cx="457200" cy="457200"/>
          </a:xfrm>
          <a:prstGeom prst="rect">
            <a:avLst/>
          </a:prstGeom>
        </p:spPr>
      </p:pic>
      <p:sp>
        <p:nvSpPr>
          <p:cNvPr id="14" name="Text 9"/>
          <p:cNvSpPr txBox="1"/>
          <p:nvPr/>
        </p:nvSpPr>
        <p:spPr>
          <a:xfrm>
            <a:off x="8375904" y="2788920"/>
            <a:ext cx="2907792"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Campus insights</a:t>
            </a:r>
            <a:endParaRPr lang="en-US" sz="2000" dirty="0"/>
          </a:p>
        </p:txBody>
      </p:sp>
      <p:sp>
        <p:nvSpPr>
          <p:cNvPr id="15" name="Text 10"/>
          <p:cNvSpPr txBox="1"/>
          <p:nvPr/>
        </p:nvSpPr>
        <p:spPr>
          <a:xfrm>
            <a:off x="8375904" y="3291840"/>
            <a:ext cx="2907792" cy="822960"/>
          </a:xfrm>
          <a:prstGeom prst="rect">
            <a:avLst/>
          </a:prstGeom>
          <a:noFill/>
          <a:ln/>
        </p:spPr>
        <p:txBody>
          <a:bodyPr wrap="square" lIns="0" tIns="0" rIns="0" bIns="0" rtlCol="0" anchor="t"/>
          <a:lstStyle/>
          <a:p>
            <a:pPr indent="0" marL="0">
              <a:buNone/>
            </a:pPr>
            <a:r>
              <a:rPr lang="en-US" sz="1500" dirty="0">
                <a:solidFill>
                  <a:schemeClr val="accent5"/>
                </a:solidFill>
              </a:rPr>
              <a:t>Anonymous, opt-in data to spot exam-week strain across hostels.</a:t>
            </a:r>
            <a:endParaRPr lang="en-US" sz="1500" dirty="0"/>
          </a:p>
        </p:txBody>
      </p:sp>
      <p:sp>
        <p:nvSpPr>
          <p:cNvPr id="16" name="AI disclosure box"/>
          <p:cNvSpPr/>
          <p:nvPr/>
        </p:nvSpPr>
        <p:spPr>
          <a:xfrm>
            <a:off x="640080" y="4480560"/>
            <a:ext cx="10881360" cy="1417320"/>
          </a:xfrm>
          <a:prstGeom prst="roundRect">
            <a:avLst>
              <a:gd name="adj" fmla="val 7742"/>
            </a:avLst>
          </a:prstGeom>
          <a:solidFill>
            <a:schemeClr val="accent4"/>
          </a:solidFill>
          <a:ln/>
        </p:spPr>
      </p:sp>
      <p:sp>
        <p:nvSpPr>
          <p:cNvPr id="17" name="Text 12"/>
          <p:cNvSpPr txBox="1"/>
          <p:nvPr/>
        </p:nvSpPr>
        <p:spPr>
          <a:xfrm>
            <a:off x="960120" y="4480560"/>
            <a:ext cx="10241280" cy="1417320"/>
          </a:xfrm>
          <a:prstGeom prst="rect">
            <a:avLst/>
          </a:prstGeom>
          <a:noFill/>
          <a:ln/>
        </p:spPr>
        <p:txBody>
          <a:bodyPr wrap="square" lIns="0" tIns="0" rIns="0" bIns="0" rtlCol="0" anchor="ctr"/>
          <a:lstStyle/>
          <a:p>
            <a:pPr indent="0" marL="0">
              <a:buNone/>
            </a:pPr>
            <a:r>
              <a:rPr lang="en-US" sz="1500" b="1" dirty="0">
                <a:solidFill>
                  <a:schemeClr val="tx2"/>
                </a:solidFill>
              </a:rPr>
              <a:t>AI usage disclosure: </a:t>
            </a:r>
            <a:pPr indent="0" marL="0">
              <a:buNone/>
            </a:pPr>
            <a:r>
              <a:rPr lang="en-US" sz="1500" dirty="0">
                <a:solidFill>
                  <a:schemeClr val="tx1"/>
                </a:solidFill>
              </a:rPr>
              <a:t>we used AI assistants (Claude) to help write and debug parts of the code and documentation. The idea, feature design, testing, calibration and presentation are our team's work, and every member can explain how the code works. EyeGuard is an awareness tool, not a medical device.</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1188720"/>
            <a:ext cx="6400800" cy="365760"/>
          </a:xfrm>
          <a:prstGeom prst="rect">
            <a:avLst/>
          </a:prstGeom>
          <a:noFill/>
          <a:ln/>
        </p:spPr>
        <p:txBody>
          <a:bodyPr wrap="square" lIns="0" tIns="0" rIns="0" bIns="0" rtlCol="0" anchor="ctr"/>
          <a:lstStyle/>
          <a:p>
            <a:pPr indent="0" marL="0">
              <a:buNone/>
            </a:pPr>
            <a:r>
              <a:rPr lang="en-US" sz="1600" b="1" spc="300" kern="0" dirty="0">
                <a:solidFill>
                  <a:schemeClr val="accent1"/>
                </a:solidFill>
              </a:rPr>
              <a:t>THANK YOU</a:t>
            </a:r>
            <a:endParaRPr lang="en-US" sz="1600" dirty="0"/>
          </a:p>
        </p:txBody>
      </p:sp>
      <p:sp>
        <p:nvSpPr>
          <p:cNvPr id="3" name="Text 1"/>
          <p:cNvSpPr txBox="1"/>
          <p:nvPr/>
        </p:nvSpPr>
        <p:spPr>
          <a:xfrm>
            <a:off x="640080" y="1737360"/>
            <a:ext cx="6766560" cy="2194560"/>
          </a:xfrm>
          <a:prstGeom prst="rect">
            <a:avLst/>
          </a:prstGeom>
          <a:noFill/>
          <a:ln/>
        </p:spPr>
        <p:txBody>
          <a:bodyPr wrap="square" lIns="0" tIns="0" rIns="0" bIns="0" rtlCol="0" anchor="t"/>
          <a:lstStyle/>
          <a:p>
            <a:pPr indent="0" marL="0">
              <a:buNone/>
            </a:pPr>
            <a:r>
              <a:rPr lang="en-US" sz="5400" b="1" dirty="0">
                <a:solidFill>
                  <a:schemeClr val="bg1"/>
                </a:solidFill>
                <a:latin typeface="Arial" pitchFamily="34" charset="0"/>
                <a:ea typeface="Arial" pitchFamily="34" charset="-122"/>
                <a:cs typeface="Arial" pitchFamily="34" charset="-120"/>
              </a:rPr>
              <a:t>Blink more. Sit back. Look away.</a:t>
            </a:r>
            <a:endParaRPr lang="en-US" sz="5400" dirty="0"/>
          </a:p>
        </p:txBody>
      </p:sp>
      <p:sp>
        <p:nvSpPr>
          <p:cNvPr id="4" name="Text 2"/>
          <p:cNvSpPr txBox="1"/>
          <p:nvPr/>
        </p:nvSpPr>
        <p:spPr>
          <a:xfrm>
            <a:off x="640080" y="4297680"/>
            <a:ext cx="6766560" cy="731520"/>
          </a:xfrm>
          <a:prstGeom prst="rect">
            <a:avLst/>
          </a:prstGeom>
          <a:noFill/>
          <a:ln/>
        </p:spPr>
        <p:txBody>
          <a:bodyPr wrap="square" lIns="0" tIns="0" rIns="0" bIns="0" rtlCol="0" anchor="t"/>
          <a:lstStyle/>
          <a:p>
            <a:pPr indent="0" marL="0">
              <a:buNone/>
            </a:pPr>
            <a:r>
              <a:rPr lang="en-US" sz="1700" dirty="0">
                <a:solidFill>
                  <a:schemeClr val="accent3"/>
                </a:solidFill>
              </a:rPr>
              <a:t>Team Dark Fantasy · Sujan Anand, Dhayanithi S V, Padhmesh N, Akshaith P</a:t>
            </a:r>
            <a:endParaRPr lang="en-US" sz="1700" dirty="0"/>
          </a:p>
        </p:txBody>
      </p:sp>
      <p:sp>
        <p:nvSpPr>
          <p:cNvPr id="5" name="Text 3"/>
          <p:cNvSpPr txBox="1"/>
          <p:nvPr/>
        </p:nvSpPr>
        <p:spPr>
          <a:xfrm>
            <a:off x="640080" y="5120640"/>
            <a:ext cx="6400800" cy="365760"/>
          </a:xfrm>
          <a:prstGeom prst="rect">
            <a:avLst/>
          </a:prstGeom>
          <a:noFill/>
          <a:ln/>
        </p:spPr>
        <p:txBody>
          <a:bodyPr wrap="square" lIns="0" tIns="0" rIns="0" bIns="0" rtlCol="0" anchor="ctr"/>
          <a:lstStyle/>
          <a:p>
            <a:pPr indent="0" marL="0">
              <a:buNone/>
            </a:pPr>
            <a:r>
              <a:rPr lang="en-US" sz="1600" dirty="0">
                <a:solidFill>
                  <a:schemeClr val="accent3"/>
                </a:solidFill>
              </a:rPr>
              <a:t>Questions welcome</a:t>
            </a:r>
            <a:endParaRPr lang="en-US" sz="1600" dirty="0"/>
          </a:p>
        </p:txBody>
      </p:sp>
      <p:sp>
        <p:nvSpPr>
          <p:cNvPr id="6" name="QR placeholder"/>
          <p:cNvSpPr/>
          <p:nvPr/>
        </p:nvSpPr>
        <p:spPr>
          <a:xfrm>
            <a:off x="8229600" y="1463040"/>
            <a:ext cx="3291840" cy="3291840"/>
          </a:xfrm>
          <a:prstGeom prst="roundRect">
            <a:avLst>
              <a:gd name="adj" fmla="val 4167"/>
            </a:avLst>
          </a:prstGeom>
          <a:solidFill>
            <a:schemeClr val="bg2"/>
          </a:solidFill>
          <a:ln/>
        </p:spPr>
      </p:sp>
      <p:sp>
        <p:nvSpPr>
          <p:cNvPr id="7" name="Text 5"/>
          <p:cNvSpPr txBox="1"/>
          <p:nvPr/>
        </p:nvSpPr>
        <p:spPr>
          <a:xfrm>
            <a:off x="8503920" y="1463040"/>
            <a:ext cx="2743200" cy="3291840"/>
          </a:xfrm>
          <a:prstGeom prst="rect">
            <a:avLst/>
          </a:prstGeom>
          <a:noFill/>
          <a:ln/>
        </p:spPr>
        <p:txBody>
          <a:bodyPr wrap="square" lIns="0" tIns="0" rIns="0" bIns="0" rtlCol="0" anchor="ctr"/>
          <a:lstStyle/>
          <a:p>
            <a:pPr algn="ctr" indent="0" marL="0">
              <a:buNone/>
            </a:pPr>
            <a:r>
              <a:rPr lang="en-US" sz="1600" dirty="0">
                <a:solidFill>
                  <a:schemeClr val="accent5"/>
                </a:solidFill>
              </a:rPr>
              <a:t>[QR code to the EyeGuard website]</a:t>
            </a:r>
            <a:endParaRPr lang="en-US" sz="1600" dirty="0"/>
          </a:p>
        </p:txBody>
      </p:sp>
      <p:sp>
        <p:nvSpPr>
          <p:cNvPr id="8" name="Text 6"/>
          <p:cNvSpPr txBox="1"/>
          <p:nvPr/>
        </p:nvSpPr>
        <p:spPr>
          <a:xfrm>
            <a:off x="8229600" y="4937760"/>
            <a:ext cx="3291840" cy="365760"/>
          </a:xfrm>
          <a:prstGeom prst="rect">
            <a:avLst/>
          </a:prstGeom>
          <a:noFill/>
          <a:ln/>
        </p:spPr>
        <p:txBody>
          <a:bodyPr wrap="square" lIns="0" tIns="0" rIns="0" bIns="0" rtlCol="0" anchor="ctr"/>
          <a:lstStyle/>
          <a:p>
            <a:pPr algn="ctr" indent="0" marL="0">
              <a:buNone/>
            </a:pPr>
            <a:r>
              <a:rPr lang="en-US" sz="1500" dirty="0">
                <a:solidFill>
                  <a:schemeClr val="accent3"/>
                </a:solidFill>
              </a:rPr>
              <a:t>Scan to try it</a:t>
            </a:r>
            <a:endParaRPr lang="en-US" sz="1500" dirty="0"/>
          </a:p>
        </p:txBody>
      </p:sp>
    </p:spTree>
  </p:cSld>
  <p:clrMapOvr>
    <a:masterClrMapping/>
  </p:clrMapOvr>
</p:sld>
</file>

<file path=ppt/theme/theme1.xml><?xml version="1.0" encoding="utf-8"?>
<a:theme xmlns:a="http://schemas.openxmlformats.org/drawingml/2006/main" name="EyeGuard">
  <a:themeElements>
    <a:clrScheme name="EyeGuard">
      <a:dk1>
        <a:srgbClr val="1B2B2C"/>
      </a:dk1>
      <a:lt1>
        <a:srgbClr val="FFFFFF"/>
      </a:lt1>
      <a:dk2>
        <a:srgbClr val="0F3B3E"/>
      </a:dk2>
      <a:lt2>
        <a:srgbClr val="F4F8F6"/>
      </a:lt2>
      <a:accent1>
        <a:srgbClr val="F2A541"/>
      </a:accent1>
      <a:accent2>
        <a:srgbClr val="2C6E6A"/>
      </a:accent2>
      <a:accent3>
        <a:srgbClr val="BFD8D5"/>
      </a:accent3>
      <a:accent4>
        <a:srgbClr val="E3EFEC"/>
      </a:accent4>
      <a:accent5>
        <a:srgbClr val="4A5A5C"/>
      </a:accent5>
      <a:accent6>
        <a:srgbClr val="9A5418"/>
      </a:accent6>
      <a:hlink>
        <a:srgbClr val="2C6E6A"/>
      </a:hlink>
      <a:folHlink>
        <a:srgbClr val="4A5A5C"/>
      </a:folHlink>
    </a:clrScheme>
    <a:fontScheme name="EyeGuar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EyeGuard – PySustain 2026</dc:title>
  <dc:subject>PptxGenJS Presentation</dc:subject>
  <dc:creator>PptxGenJS</dc:creator>
  <cp:lastModifiedBy>PptxGenJS</cp:lastModifiedBy>
  <cp:revision>1</cp:revision>
  <dcterms:created xsi:type="dcterms:W3CDTF">2026-10-11T05:19:37Z</dcterms:created>
  <dcterms:modified xsi:type="dcterms:W3CDTF">2026-10-11T05:19:37Z</dcterms:modified>
</cp:coreProperties>
</file>