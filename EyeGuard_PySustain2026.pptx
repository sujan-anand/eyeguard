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 matters" id="{69fd4644-bff9-7f58-317c-976355c26256}">
          <p14:sldIdLst>
            <p14:sldId id="256"/>
            <p14:sldId id="257"/>
            <p14:sldId id="258"/>
            <p14:sldId id="259"/>
          </p14:sldIdLst>
        </p14:section>
        <p14:section name="How EyeGuard works" id="{64f73406-3daa-4a5a-103d-230341694541}">
          <p14:sldIdLst>
            <p14:sldId id="260"/>
            <p14:sldId id="261"/>
            <p14:sldId id="262"/>
            <p14:sldId id="263"/>
          </p14:sldIdLst>
        </p14:section>
        <p14:section name="Demo and next steps" id="{7185fef6-b2ef-ce2b-4bfa-33cc3d6fb625}">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pitch: EyeGuard uses only a webcam and Python to catch eye strain before it builds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judges how many hours they spent on a screen today. Most strain is invisible until it hurts: we blink less and lean in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 EyeGuard measures. Blink rate commonly drops sharply during screen use. Check and cite your source for these figures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SDG 3 target 3.4 (prevention and well-being). Secondary: SDG 4, because students who are comfortable study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in one sentence. Stress the three points: no new hardware, no cost, and the video stays private because nothing is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Everything runs locally on the laptop; no video is saved or uploaded, only numbers are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checks run on every frame. The strain score combines them into one number students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questions here. EAR: vertical eye distances divided by horizontal. Distance uses the pinhole camera model with the iris as a known-size ruler.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laptop and run: py eyeguard.py --demo. Press c at arm's length to calibrate first. Turn sound on with m so judges hear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verified break is the unique part: if you keep staring at the screen during the break, the 20-second timer pauses until you really look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website plan, then read the AI disclosure plainly. Edit the wording so it matches exactly what your team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habits. Replace the white box with a QR code for the website once it is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rtlCol="0"/>
          <a:lstStyle>
            <a:lvl1pPr indent="0" marL="0">
              <a:buNone/>
              <a:defRPr lang="en-US" sz="1400" b="1" spc="2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rtlCol="0"/>
          <a:lstStyle>
            <a:lvl1pPr algn="l" indent="0" marL="0">
              <a:buNone/>
              <a:defRPr lang="en-US" sz="3600" b="1" dirty="0">
                <a:solidFill>
                  <a:schemeClr val="tx2"/>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4"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EyeGuard · PySustain-2026</a:t>
            </a:r>
            <a:endParaRPr lang="en-US" sz="11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 outer"/>
          <p:cNvSpPr/>
          <p:nvPr/>
        </p:nvSpPr>
        <p:spPr>
          <a:xfrm>
            <a:off x="8412480" y="1188720"/>
            <a:ext cx="3291840" cy="3291840"/>
          </a:xfrm>
          <a:prstGeom prst="ellipse">
            <a:avLst/>
          </a:prstGeom>
          <a:solidFill>
            <a:schemeClr val="accent2"/>
          </a:solidFill>
          <a:ln/>
        </p:spPr>
      </p:sp>
      <p:sp>
        <p:nvSpPr>
          <p:cNvPr id="3" name="eye iris ring"/>
          <p:cNvSpPr/>
          <p:nvPr/>
        </p:nvSpPr>
        <p:spPr>
          <a:xfrm>
            <a:off x="9235440" y="2011680"/>
            <a:ext cx="1645920" cy="1645920"/>
          </a:xfrm>
          <a:prstGeom prst="ellipse">
            <a:avLst/>
          </a:prstGeom>
          <a:solidFill>
            <a:schemeClr val="tx2"/>
          </a:solidFill>
          <a:ln/>
        </p:spPr>
      </p:sp>
      <p:sp>
        <p:nvSpPr>
          <p:cNvPr id="4" name="eye pupil"/>
          <p:cNvSpPr/>
          <p:nvPr/>
        </p:nvSpPr>
        <p:spPr>
          <a:xfrm>
            <a:off x="9646920" y="2423160"/>
            <a:ext cx="822960" cy="822960"/>
          </a:xfrm>
          <a:prstGeom prst="ellipse">
            <a:avLst/>
          </a:prstGeom>
          <a:solidFill>
            <a:schemeClr val="accent1"/>
          </a:solidFill>
          <a:ln/>
        </p:spPr>
      </p:sp>
      <p:sp>
        <p:nvSpPr>
          <p:cNvPr id="5" name="Text 3"/>
          <p:cNvSpPr txBox="1"/>
          <p:nvPr/>
        </p:nvSpPr>
        <p:spPr>
          <a:xfrm>
            <a:off x="640080" y="640080"/>
            <a:ext cx="82296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PYSUSTAIN-2026 · TRACK 1: CODE TO CURE</a:t>
            </a:r>
            <a:endParaRPr lang="en-US" sz="1600" dirty="0"/>
          </a:p>
        </p:txBody>
      </p:sp>
      <p:sp>
        <p:nvSpPr>
          <p:cNvPr id="6" name="Text 4"/>
          <p:cNvSpPr txBox="1"/>
          <p:nvPr/>
        </p:nvSpPr>
        <p:spPr>
          <a:xfrm>
            <a:off x="640080" y="1828800"/>
            <a:ext cx="7315200" cy="128016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EyeGuard</a:t>
            </a:r>
            <a:endParaRPr lang="en-US" sz="8000" dirty="0"/>
          </a:p>
        </p:txBody>
      </p:sp>
      <p:sp>
        <p:nvSpPr>
          <p:cNvPr id="7" name="Text 5"/>
          <p:cNvSpPr txBox="1"/>
          <p:nvPr/>
        </p:nvSpPr>
        <p:spPr>
          <a:xfrm>
            <a:off x="640080" y="3200400"/>
            <a:ext cx="6949440" cy="1005840"/>
          </a:xfrm>
          <a:prstGeom prst="rect">
            <a:avLst/>
          </a:prstGeom>
          <a:noFill/>
          <a:ln/>
        </p:spPr>
        <p:txBody>
          <a:bodyPr wrap="square" lIns="0" tIns="0" rIns="0" bIns="0" rtlCol="0" anchor="t"/>
          <a:lstStyle/>
          <a:p>
            <a:pPr indent="0" marL="0">
              <a:buNone/>
            </a:pPr>
            <a:r>
              <a:rPr lang="en-US" sz="2200" dirty="0">
                <a:solidFill>
                  <a:schemeClr val="accent3"/>
                </a:solidFill>
              </a:rPr>
              <a:t>A webcam-powered eye strain monitor that tells students when to blink, sit back and rest.</a:t>
            </a:r>
            <a:endParaRPr lang="en-US" sz="2200" dirty="0"/>
          </a:p>
        </p:txBody>
      </p:sp>
      <p:sp>
        <p:nvSpPr>
          <p:cNvPr id="8" name="Text 6"/>
          <p:cNvSpPr txBox="1"/>
          <p:nvPr/>
        </p:nvSpPr>
        <p:spPr>
          <a:xfrm>
            <a:off x="640080" y="5760720"/>
            <a:ext cx="7772400" cy="365760"/>
          </a:xfrm>
          <a:prstGeom prst="rect">
            <a:avLst/>
          </a:prstGeom>
          <a:noFill/>
          <a:ln/>
        </p:spPr>
        <p:txBody>
          <a:bodyPr wrap="square" lIns="0" tIns="0" rIns="0" bIns="0" rtlCol="0" anchor="ctr"/>
          <a:lstStyle/>
          <a:p>
            <a:pPr indent="0" marL="0">
              <a:buNone/>
            </a:pPr>
            <a:r>
              <a:rPr lang="en-US" sz="1500" dirty="0">
                <a:solidFill>
                  <a:schemeClr val="accent3"/>
                </a:solidFill>
              </a:rPr>
              <a:t>Team [Team name] · [Member 1], [Member 2], [Member 3], [Member 4]</a:t>
            </a:r>
            <a:endParaRPr lang="en-US" sz="1500" dirty="0"/>
          </a:p>
        </p:txBody>
      </p:sp>
      <p:sp>
        <p:nvSpPr>
          <p:cNvPr id="9" name="SDG pill"/>
          <p:cNvSpPr/>
          <p:nvPr/>
        </p:nvSpPr>
        <p:spPr>
          <a:xfrm>
            <a:off x="8778240" y="5715000"/>
            <a:ext cx="1280160" cy="457200"/>
          </a:xfrm>
          <a:prstGeom prst="roundRect">
            <a:avLst>
              <a:gd name="adj" fmla="val 50000"/>
            </a:avLst>
          </a:prstGeom>
          <a:solidFill>
            <a:schemeClr val="accent1"/>
          </a:solidFill>
          <a:ln/>
        </p:spPr>
      </p:sp>
      <p:sp>
        <p:nvSpPr>
          <p:cNvPr id="10" name="Text 8"/>
          <p:cNvSpPr txBox="1"/>
          <p:nvPr/>
        </p:nvSpPr>
        <p:spPr>
          <a:xfrm>
            <a:off x="8778240" y="5715000"/>
            <a:ext cx="1280160" cy="457200"/>
          </a:xfrm>
          <a:prstGeom prst="rect">
            <a:avLst/>
          </a:prstGeom>
          <a:noFill/>
          <a:ln/>
        </p:spPr>
        <p:txBody>
          <a:bodyPr wrap="square" lIns="0" tIns="0" rIns="0" bIns="0" rtlCol="0" anchor="ctr"/>
          <a:lstStyle/>
          <a:p>
            <a:pPr algn="ctr" indent="0" marL="0">
              <a:buNone/>
            </a:pPr>
            <a:r>
              <a:rPr lang="en-US" sz="1500" b="1" dirty="0">
                <a:solidFill>
                  <a:schemeClr val="tx2"/>
                </a:solidFill>
              </a:rPr>
              <a:t>SDG 3.4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THE PROBLEM</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Students live on screens, and their eyes pay for it</a:t>
            </a:r>
            <a:endParaRPr lang="en-US" sz="3600" dirty="0"/>
          </a:p>
        </p:txBody>
      </p:sp>
      <p:sp>
        <p:nvSpPr>
          <p:cNvPr id="4" name="card Hours of screen time"/>
          <p:cNvSpPr/>
          <p:nvPr/>
        </p:nvSpPr>
        <p:spPr>
          <a:xfrm>
            <a:off x="640080" y="2194560"/>
            <a:ext cx="3456432" cy="2834640"/>
          </a:xfrm>
          <a:prstGeom prst="roundRect">
            <a:avLst>
              <a:gd name="adj" fmla="val 4839"/>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60120" y="2514600"/>
            <a:ext cx="502920" cy="502920"/>
          </a:xfrm>
          <a:prstGeom prst="rect">
            <a:avLst/>
          </a:prstGeom>
        </p:spPr>
      </p:pic>
      <p:sp>
        <p:nvSpPr>
          <p:cNvPr id="6" name="Text 3"/>
          <p:cNvSpPr txBox="1"/>
          <p:nvPr/>
        </p:nvSpPr>
        <p:spPr>
          <a:xfrm>
            <a:off x="960120"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Hours of screen time</a:t>
            </a:r>
            <a:endParaRPr lang="en-US" sz="2000" dirty="0"/>
          </a:p>
        </p:txBody>
      </p:sp>
      <p:sp>
        <p:nvSpPr>
          <p:cNvPr id="7" name="Text 4"/>
          <p:cNvSpPr txBox="1"/>
          <p:nvPr/>
        </p:nvSpPr>
        <p:spPr>
          <a:xfrm>
            <a:off x="960120"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Online classes, assignments, coding and entertainment keep students in front of screens most of the day.</a:t>
            </a:r>
            <a:endParaRPr lang="en-US" sz="1500" dirty="0"/>
          </a:p>
        </p:txBody>
      </p:sp>
      <p:sp>
        <p:nvSpPr>
          <p:cNvPr id="8" name="card Strain you don't notice"/>
          <p:cNvSpPr/>
          <p:nvPr/>
        </p:nvSpPr>
        <p:spPr>
          <a:xfrm>
            <a:off x="4370832" y="2194560"/>
            <a:ext cx="3456432" cy="2834640"/>
          </a:xfrm>
          <a:prstGeom prst="roundRect">
            <a:avLst>
              <a:gd name="adj" fmla="val 4839"/>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90872" y="2514600"/>
            <a:ext cx="502920" cy="502920"/>
          </a:xfrm>
          <a:prstGeom prst="rect">
            <a:avLst/>
          </a:prstGeom>
        </p:spPr>
      </p:pic>
      <p:sp>
        <p:nvSpPr>
          <p:cNvPr id="10" name="Text 6"/>
          <p:cNvSpPr txBox="1"/>
          <p:nvPr/>
        </p:nvSpPr>
        <p:spPr>
          <a:xfrm>
            <a:off x="4690872"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Strain you don't notice</a:t>
            </a:r>
            <a:endParaRPr lang="en-US" sz="2000" dirty="0"/>
          </a:p>
        </p:txBody>
      </p:sp>
      <p:sp>
        <p:nvSpPr>
          <p:cNvPr id="11" name="Text 7"/>
          <p:cNvSpPr txBox="1"/>
          <p:nvPr/>
        </p:nvSpPr>
        <p:spPr>
          <a:xfrm>
            <a:off x="4690872"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Dry eyes, headaches and blurred vision build up slowly. We stop blinking and lean closer without realising it.</a:t>
            </a:r>
            <a:endParaRPr lang="en-US" sz="1500" dirty="0"/>
          </a:p>
        </p:txBody>
      </p:sp>
      <p:sp>
        <p:nvSpPr>
          <p:cNvPr id="12" name="card Rising myopia"/>
          <p:cNvSpPr/>
          <p:nvPr/>
        </p:nvSpPr>
        <p:spPr>
          <a:xfrm>
            <a:off x="8101584" y="2194560"/>
            <a:ext cx="3456432" cy="2834640"/>
          </a:xfrm>
          <a:prstGeom prst="roundRect">
            <a:avLst>
              <a:gd name="adj" fmla="val 4839"/>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421624" y="2514600"/>
            <a:ext cx="502920" cy="502920"/>
          </a:xfrm>
          <a:prstGeom prst="rect">
            <a:avLst/>
          </a:prstGeom>
        </p:spPr>
      </p:pic>
      <p:sp>
        <p:nvSpPr>
          <p:cNvPr id="14" name="Text 9"/>
          <p:cNvSpPr txBox="1"/>
          <p:nvPr/>
        </p:nvSpPr>
        <p:spPr>
          <a:xfrm>
            <a:off x="8421624"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Rising myopia</a:t>
            </a:r>
            <a:endParaRPr lang="en-US" sz="2000" dirty="0"/>
          </a:p>
        </p:txBody>
      </p:sp>
      <p:sp>
        <p:nvSpPr>
          <p:cNvPr id="15" name="Text 10"/>
          <p:cNvSpPr txBox="1"/>
          <p:nvPr/>
        </p:nvSpPr>
        <p:spPr>
          <a:xfrm>
            <a:off x="8421624"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Short-sightedness among young people is rising worldwide, and close-up screen habits are a major factor.</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822960"/>
            <a:ext cx="100584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WHAT HAPPENS WHEN WE STARE AT A SCREEN</a:t>
            </a:r>
            <a:endParaRPr lang="en-US" sz="1600" dirty="0"/>
          </a:p>
        </p:txBody>
      </p:sp>
      <p:sp>
        <p:nvSpPr>
          <p:cNvPr id="3" name="Text 1"/>
          <p:cNvSpPr txBox="1"/>
          <p:nvPr/>
        </p:nvSpPr>
        <p:spPr>
          <a:xfrm>
            <a:off x="640080" y="1828800"/>
            <a:ext cx="4206240" cy="1463040"/>
          </a:xfrm>
          <a:prstGeom prst="rect">
            <a:avLst/>
          </a:prstGeom>
          <a:noFill/>
          <a:ln/>
        </p:spPr>
        <p:txBody>
          <a:bodyPr wrap="square" lIns="0" tIns="0" rIns="0" bIns="0" rtlCol="0" anchor="ctr"/>
          <a:lstStyle/>
          <a:p>
            <a:pPr indent="0" marL="0">
              <a:buNone/>
            </a:pPr>
            <a:r>
              <a:rPr lang="en-US" sz="9600" b="1" dirty="0">
                <a:solidFill>
                  <a:schemeClr val="accent3"/>
                </a:solidFill>
                <a:latin typeface="Arial" pitchFamily="34" charset="0"/>
                <a:ea typeface="Arial" pitchFamily="34" charset="-122"/>
                <a:cs typeface="Arial" pitchFamily="34" charset="-120"/>
              </a:rPr>
              <a:t>15–20</a:t>
            </a:r>
            <a:endParaRPr lang="en-US" sz="9600" dirty="0"/>
          </a:p>
        </p:txBody>
      </p:sp>
      <p:sp>
        <p:nvSpPr>
          <p:cNvPr id="4" name="Text 2"/>
          <p:cNvSpPr txBox="1"/>
          <p:nvPr/>
        </p:nvSpPr>
        <p:spPr>
          <a:xfrm>
            <a:off x="640080" y="3291840"/>
            <a:ext cx="4206240" cy="457200"/>
          </a:xfrm>
          <a:prstGeom prst="rect">
            <a:avLst/>
          </a:prstGeom>
          <a:noFill/>
          <a:ln/>
        </p:spPr>
        <p:txBody>
          <a:bodyPr wrap="square" lIns="0" tIns="0" rIns="0" bIns="0" rtlCol="0" anchor="ctr"/>
          <a:lstStyle/>
          <a:p>
            <a:pPr indent="0" marL="0">
              <a:buNone/>
            </a:pPr>
            <a:r>
              <a:rPr lang="en-US" sz="2000" dirty="0">
                <a:solidFill>
                  <a:schemeClr val="accent3"/>
                </a:solidFill>
              </a:rPr>
              <a:t>blinks per minute, normally</a:t>
            </a:r>
            <a:endParaRPr lang="en-US" sz="2000" dirty="0"/>
          </a:p>
        </p:txBody>
      </p:sp>
      <p:sp>
        <p:nvSpPr>
          <p:cNvPr id="5" name="arrow"/>
          <p:cNvSpPr/>
          <p:nvPr/>
        </p:nvSpPr>
        <p:spPr>
          <a:xfrm>
            <a:off x="5120640" y="2240280"/>
            <a:ext cx="1463040" cy="731520"/>
          </a:xfrm>
          <a:prstGeom prst="rightArrow">
            <a:avLst/>
          </a:prstGeom>
          <a:solidFill>
            <a:schemeClr val="accent1"/>
          </a:solidFill>
          <a:ln/>
        </p:spPr>
      </p:sp>
      <p:sp>
        <p:nvSpPr>
          <p:cNvPr id="6" name="Text 4"/>
          <p:cNvSpPr txBox="1"/>
          <p:nvPr/>
        </p:nvSpPr>
        <p:spPr>
          <a:xfrm>
            <a:off x="7132320" y="1828800"/>
            <a:ext cx="4206240" cy="1463040"/>
          </a:xfrm>
          <a:prstGeom prst="rect">
            <a:avLst/>
          </a:prstGeom>
          <a:noFill/>
          <a:ln/>
        </p:spPr>
        <p:txBody>
          <a:bodyPr wrap="square" lIns="0" tIns="0" rIns="0" bIns="0" rtlCol="0" anchor="ctr"/>
          <a:lstStyle/>
          <a:p>
            <a:pPr indent="0" marL="0">
              <a:buNone/>
            </a:pPr>
            <a:r>
              <a:rPr lang="en-US" sz="9600" b="1" dirty="0">
                <a:solidFill>
                  <a:schemeClr val="accent1"/>
                </a:solidFill>
                <a:latin typeface="Arial" pitchFamily="34" charset="0"/>
                <a:ea typeface="Arial" pitchFamily="34" charset="-122"/>
                <a:cs typeface="Arial" pitchFamily="34" charset="-120"/>
              </a:rPr>
              <a:t>5–7</a:t>
            </a:r>
            <a:endParaRPr lang="en-US" sz="9600" dirty="0"/>
          </a:p>
        </p:txBody>
      </p:sp>
      <p:sp>
        <p:nvSpPr>
          <p:cNvPr id="7" name="Text 5"/>
          <p:cNvSpPr txBox="1"/>
          <p:nvPr/>
        </p:nvSpPr>
        <p:spPr>
          <a:xfrm>
            <a:off x="7132320" y="3291840"/>
            <a:ext cx="4389120" cy="457200"/>
          </a:xfrm>
          <a:prstGeom prst="rect">
            <a:avLst/>
          </a:prstGeom>
          <a:noFill/>
          <a:ln/>
        </p:spPr>
        <p:txBody>
          <a:bodyPr wrap="square" lIns="0" tIns="0" rIns="0" bIns="0" rtlCol="0" anchor="ctr"/>
          <a:lstStyle/>
          <a:p>
            <a:pPr indent="0" marL="0">
              <a:buNone/>
            </a:pPr>
            <a:r>
              <a:rPr lang="en-US" sz="2000" dirty="0">
                <a:solidFill>
                  <a:schemeClr val="accent1"/>
                </a:solidFill>
              </a:rPr>
              <a:t>blinks per minute on a screen</a:t>
            </a:r>
            <a:endParaRPr lang="en-US" sz="2000" dirty="0"/>
          </a:p>
        </p:txBody>
      </p:sp>
      <p:sp>
        <p:nvSpPr>
          <p:cNvPr id="8" name="Text 6"/>
          <p:cNvSpPr txBox="1"/>
          <p:nvPr/>
        </p:nvSpPr>
        <p:spPr>
          <a:xfrm>
            <a:off x="640080" y="4572000"/>
            <a:ext cx="10515600" cy="822960"/>
          </a:xfrm>
          <a:prstGeom prst="rect">
            <a:avLst/>
          </a:prstGeom>
          <a:noFill/>
          <a:ln/>
        </p:spPr>
        <p:txBody>
          <a:bodyPr wrap="square" lIns="0" tIns="0" rIns="0" bIns="0" rtlCol="0" anchor="ctr"/>
          <a:lstStyle/>
          <a:p>
            <a:pPr indent="0" marL="0">
              <a:buNone/>
            </a:pPr>
            <a:r>
              <a:rPr lang="en-US" sz="2600" dirty="0">
                <a:solidFill>
                  <a:schemeClr val="bg1"/>
                </a:solidFill>
              </a:rPr>
              <a:t>Fewer blinks mean drier, more tired eyes, and nobody notices it happening.</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SUSTAINABLE DEVELOPMENT GOALS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Prevention before damage</a:t>
            </a:r>
            <a:endParaRPr lang="en-US" sz="3600" dirty="0"/>
          </a:p>
        </p:txBody>
      </p:sp>
      <p:sp>
        <p:nvSpPr>
          <p:cNvPr id="4" name="SDG 3.4 card"/>
          <p:cNvSpPr/>
          <p:nvPr/>
        </p:nvSpPr>
        <p:spPr>
          <a:xfrm>
            <a:off x="640080" y="2103120"/>
            <a:ext cx="6400800" cy="3200400"/>
          </a:xfrm>
          <a:prstGeom prst="roundRect">
            <a:avLst>
              <a:gd name="adj" fmla="val 4286"/>
            </a:avLst>
          </a:prstGeom>
          <a:solidFill>
            <a:schemeClr val="tx2"/>
          </a:solidFill>
          <a:ln/>
        </p:spPr>
      </p:sp>
      <p:sp>
        <p:nvSpPr>
          <p:cNvPr id="5" name="SDG 3.4 pill"/>
          <p:cNvSpPr/>
          <p:nvPr/>
        </p:nvSpPr>
        <p:spPr>
          <a:xfrm>
            <a:off x="1051560" y="2514600"/>
            <a:ext cx="1371600" cy="457200"/>
          </a:xfrm>
          <a:prstGeom prst="roundRect">
            <a:avLst>
              <a:gd name="adj" fmla="val 50000"/>
            </a:avLst>
          </a:prstGeom>
          <a:solidFill>
            <a:schemeClr val="accent1"/>
          </a:solidFill>
          <a:ln/>
        </p:spPr>
      </p:sp>
      <p:sp>
        <p:nvSpPr>
          <p:cNvPr id="6" name="Text 4"/>
          <p:cNvSpPr txBox="1"/>
          <p:nvPr/>
        </p:nvSpPr>
        <p:spPr>
          <a:xfrm>
            <a:off x="1051560" y="2514600"/>
            <a:ext cx="1371600" cy="457200"/>
          </a:xfrm>
          <a:prstGeom prst="rect">
            <a:avLst/>
          </a:prstGeom>
          <a:noFill/>
          <a:ln/>
        </p:spPr>
        <p:txBody>
          <a:bodyPr wrap="square" lIns="0" tIns="0" rIns="0" bIns="0" rtlCol="0" anchor="ctr"/>
          <a:lstStyle/>
          <a:p>
            <a:pPr algn="ctr" indent="0" marL="0">
              <a:buNone/>
            </a:pPr>
            <a:r>
              <a:rPr lang="en-US" sz="1500" b="1" dirty="0">
                <a:solidFill>
                  <a:schemeClr val="tx2"/>
                </a:solidFill>
              </a:rPr>
              <a:t>SDG 3.4</a:t>
            </a:r>
            <a:endParaRPr lang="en-US" sz="1500" dirty="0"/>
          </a:p>
        </p:txBody>
      </p:sp>
      <p:sp>
        <p:nvSpPr>
          <p:cNvPr id="7" name="Text 5"/>
          <p:cNvSpPr txBox="1"/>
          <p:nvPr/>
        </p:nvSpPr>
        <p:spPr>
          <a:xfrm>
            <a:off x="1051560" y="3200400"/>
            <a:ext cx="5577840"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Good health and well-being</a:t>
            </a:r>
            <a:endParaRPr lang="en-US" sz="2400" dirty="0"/>
          </a:p>
        </p:txBody>
      </p:sp>
      <p:sp>
        <p:nvSpPr>
          <p:cNvPr id="8" name="Text 6"/>
          <p:cNvSpPr txBox="1"/>
          <p:nvPr/>
        </p:nvSpPr>
        <p:spPr>
          <a:xfrm>
            <a:off x="1051560" y="3840480"/>
            <a:ext cx="5577840" cy="1828800"/>
          </a:xfrm>
          <a:prstGeom prst="rect">
            <a:avLst/>
          </a:prstGeom>
          <a:noFill/>
          <a:ln/>
        </p:spPr>
        <p:txBody>
          <a:bodyPr wrap="square" lIns="0" tIns="0" rIns="0" bIns="0" rtlCol="0" anchor="t"/>
          <a:lstStyle/>
          <a:p>
            <a:pPr indent="0" marL="0">
              <a:buNone/>
            </a:pPr>
            <a:r>
              <a:rPr lang="en-US" sz="1500" dirty="0">
                <a:solidFill>
                  <a:schemeClr val="accent3"/>
                </a:solidFill>
              </a:rPr>
              <a:t>Target 3.4 calls for prevention of non-communicable disease and the promotion of well-being. EyeGuard prevents a lifestyle health problem early, at zero cost, using hardware students already own.</a:t>
            </a:r>
            <a:endParaRPr lang="en-US" sz="1500" dirty="0"/>
          </a:p>
        </p:txBody>
      </p:sp>
      <p:sp>
        <p:nvSpPr>
          <p:cNvPr id="9" name="SDG 4 card"/>
          <p:cNvSpPr/>
          <p:nvPr/>
        </p:nvSpPr>
        <p:spPr>
          <a:xfrm>
            <a:off x="7315200" y="2103120"/>
            <a:ext cx="4233672" cy="3200400"/>
          </a:xfrm>
          <a:prstGeom prst="roundRect">
            <a:avLst>
              <a:gd name="adj" fmla="val 4286"/>
            </a:avLst>
          </a:prstGeom>
          <a:solidFill>
            <a:schemeClr val="bg1"/>
          </a:solidFill>
          <a:ln w="12700">
            <a:solidFill>
              <a:schemeClr val="accent3"/>
            </a:solidFill>
            <a:prstDash val="solid"/>
          </a:ln>
        </p:spPr>
      </p:sp>
      <p:sp>
        <p:nvSpPr>
          <p:cNvPr id="10" name="SDG 4 pill"/>
          <p:cNvSpPr/>
          <p:nvPr/>
        </p:nvSpPr>
        <p:spPr>
          <a:xfrm>
            <a:off x="7726680" y="2514600"/>
            <a:ext cx="1097280" cy="457200"/>
          </a:xfrm>
          <a:prstGeom prst="roundRect">
            <a:avLst>
              <a:gd name="adj" fmla="val 50000"/>
            </a:avLst>
          </a:prstGeom>
          <a:solidFill>
            <a:schemeClr val="accent2"/>
          </a:solidFill>
          <a:ln/>
        </p:spPr>
      </p:sp>
      <p:sp>
        <p:nvSpPr>
          <p:cNvPr id="11" name="Text 9"/>
          <p:cNvSpPr txBox="1"/>
          <p:nvPr/>
        </p:nvSpPr>
        <p:spPr>
          <a:xfrm>
            <a:off x="7726680" y="2514600"/>
            <a:ext cx="1097280" cy="457200"/>
          </a:xfrm>
          <a:prstGeom prst="rect">
            <a:avLst/>
          </a:prstGeom>
          <a:noFill/>
          <a:ln/>
        </p:spPr>
        <p:txBody>
          <a:bodyPr wrap="square" lIns="0" tIns="0" rIns="0" bIns="0" rtlCol="0" anchor="ctr"/>
          <a:lstStyle/>
          <a:p>
            <a:pPr algn="ctr" indent="0" marL="0">
              <a:buNone/>
            </a:pPr>
            <a:r>
              <a:rPr lang="en-US" sz="1500" b="1" dirty="0">
                <a:solidFill>
                  <a:schemeClr val="bg1"/>
                </a:solidFill>
              </a:rPr>
              <a:t>SDG 4</a:t>
            </a:r>
            <a:endParaRPr lang="en-US" sz="1500" dirty="0"/>
          </a:p>
        </p:txBody>
      </p:sp>
      <p:sp>
        <p:nvSpPr>
          <p:cNvPr id="12" name="Text 10"/>
          <p:cNvSpPr txBox="1"/>
          <p:nvPr/>
        </p:nvSpPr>
        <p:spPr>
          <a:xfrm>
            <a:off x="7726680" y="3200400"/>
            <a:ext cx="3474720" cy="45720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Quality education</a:t>
            </a:r>
            <a:endParaRPr lang="en-US" sz="2400" dirty="0"/>
          </a:p>
        </p:txBody>
      </p:sp>
      <p:sp>
        <p:nvSpPr>
          <p:cNvPr id="13" name="Text 11"/>
          <p:cNvSpPr txBox="1"/>
          <p:nvPr/>
        </p:nvSpPr>
        <p:spPr>
          <a:xfrm>
            <a:off x="7726680" y="3840480"/>
            <a:ext cx="3474720" cy="1828800"/>
          </a:xfrm>
          <a:prstGeom prst="rect">
            <a:avLst/>
          </a:prstGeom>
          <a:noFill/>
          <a:ln/>
        </p:spPr>
        <p:txBody>
          <a:bodyPr wrap="square" lIns="0" tIns="0" rIns="0" bIns="0" rtlCol="0" anchor="t"/>
          <a:lstStyle/>
          <a:p>
            <a:pPr indent="0" marL="0">
              <a:buNone/>
            </a:pPr>
            <a:r>
              <a:rPr lang="en-US" sz="1500" dirty="0">
                <a:solidFill>
                  <a:schemeClr val="accent5"/>
                </a:solidFill>
              </a:rPr>
              <a:t>Healthier eyes mean longer, more comfortable study sessions and better focus.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accent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OUR SOLUTION</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EyeGuard watches your eyes so you don't have to</a:t>
            </a:r>
            <a:endParaRPr lang="en-US" sz="3600" dirty="0"/>
          </a:p>
        </p:txBody>
      </p:sp>
      <p:sp>
        <p:nvSpPr>
          <p:cNvPr id="4" name="Text 2"/>
          <p:cNvSpPr txBox="1"/>
          <p:nvPr/>
        </p:nvSpPr>
        <p:spPr>
          <a:xfrm>
            <a:off x="640080" y="2103120"/>
            <a:ext cx="7315200" cy="1463040"/>
          </a:xfrm>
          <a:prstGeom prst="rect">
            <a:avLst/>
          </a:prstGeom>
          <a:noFill/>
          <a:ln/>
        </p:spPr>
        <p:txBody>
          <a:bodyPr wrap="square" lIns="0" tIns="0" rIns="0" bIns="0" rtlCol="0" anchor="t"/>
          <a:lstStyle/>
          <a:p>
            <a:pPr indent="0" marL="0">
              <a:buNone/>
            </a:pPr>
            <a:r>
              <a:rPr lang="en-US" sz="2200" dirty="0">
                <a:solidFill>
                  <a:schemeClr val="tx1"/>
                </a:solidFill>
              </a:rPr>
              <a:t>A Python app that uses an ordinary laptop webcam to track blinking, screen distance and breaks in real time, and alerts you before strain builds up.</a:t>
            </a:r>
            <a:endParaRPr lang="en-US" sz="2200" dirty="0"/>
          </a:p>
        </p:txBody>
      </p:sp>
      <p:sp>
        <p:nvSpPr>
          <p:cNvPr id="5" name="pill No extra hardware"/>
          <p:cNvSpPr/>
          <p:nvPr/>
        </p:nvSpPr>
        <p:spPr>
          <a:xfrm>
            <a:off x="640080" y="3931920"/>
            <a:ext cx="3840480" cy="502920"/>
          </a:xfrm>
          <a:prstGeom prst="roundRect">
            <a:avLst>
              <a:gd name="adj" fmla="val 49091"/>
            </a:avLst>
          </a:prstGeom>
          <a:solidFill>
            <a:schemeClr val="bg1"/>
          </a:solidFill>
          <a:ln w="12700">
            <a:solidFill>
              <a:schemeClr val="accent3"/>
            </a:solidFill>
            <a:prstDash val="solid"/>
          </a:ln>
        </p:spPr>
      </p:sp>
      <p:sp>
        <p:nvSpPr>
          <p:cNvPr id="6" name="Text 4"/>
          <p:cNvSpPr txBox="1"/>
          <p:nvPr/>
        </p:nvSpPr>
        <p:spPr>
          <a:xfrm>
            <a:off x="914400" y="39319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No extra hardware</a:t>
            </a:r>
            <a:endParaRPr lang="en-US" sz="1600" dirty="0"/>
          </a:p>
        </p:txBody>
      </p:sp>
      <p:sp>
        <p:nvSpPr>
          <p:cNvPr id="7" name="pill Free and open"/>
          <p:cNvSpPr/>
          <p:nvPr/>
        </p:nvSpPr>
        <p:spPr>
          <a:xfrm>
            <a:off x="640080" y="4617720"/>
            <a:ext cx="3840480" cy="502920"/>
          </a:xfrm>
          <a:prstGeom prst="roundRect">
            <a:avLst>
              <a:gd name="adj" fmla="val 49091"/>
            </a:avLst>
          </a:prstGeom>
          <a:solidFill>
            <a:schemeClr val="bg1"/>
          </a:solidFill>
          <a:ln w="12700">
            <a:solidFill>
              <a:schemeClr val="accent3"/>
            </a:solidFill>
            <a:prstDash val="solid"/>
          </a:ln>
        </p:spPr>
      </p:sp>
      <p:sp>
        <p:nvSpPr>
          <p:cNvPr id="8" name="Text 6"/>
          <p:cNvSpPr txBox="1"/>
          <p:nvPr/>
        </p:nvSpPr>
        <p:spPr>
          <a:xfrm>
            <a:off x="914400" y="46177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Free and open</a:t>
            </a:r>
            <a:endParaRPr lang="en-US" sz="1600" dirty="0"/>
          </a:p>
        </p:txBody>
      </p:sp>
      <p:sp>
        <p:nvSpPr>
          <p:cNvPr id="9" name="pill Data stays on your laptop"/>
          <p:cNvSpPr/>
          <p:nvPr/>
        </p:nvSpPr>
        <p:spPr>
          <a:xfrm>
            <a:off x="640080" y="5303520"/>
            <a:ext cx="3840480" cy="502920"/>
          </a:xfrm>
          <a:prstGeom prst="roundRect">
            <a:avLst>
              <a:gd name="adj" fmla="val 49091"/>
            </a:avLst>
          </a:prstGeom>
          <a:solidFill>
            <a:schemeClr val="bg1"/>
          </a:solidFill>
          <a:ln w="12700">
            <a:solidFill>
              <a:schemeClr val="accent3"/>
            </a:solidFill>
            <a:prstDash val="solid"/>
          </a:ln>
        </p:spPr>
      </p:sp>
      <p:sp>
        <p:nvSpPr>
          <p:cNvPr id="10" name="Text 8"/>
          <p:cNvSpPr txBox="1"/>
          <p:nvPr/>
        </p:nvSpPr>
        <p:spPr>
          <a:xfrm>
            <a:off x="914400" y="53035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Data stays on your laptop</a:t>
            </a:r>
            <a:endParaRPr lang="en-US" sz="1600" dirty="0"/>
          </a:p>
        </p:txBody>
      </p:sp>
      <p:sp>
        <p:nvSpPr>
          <p:cNvPr id="11" name="eye badge"/>
          <p:cNvSpPr/>
          <p:nvPr/>
        </p:nvSpPr>
        <p:spPr>
          <a:xfrm>
            <a:off x="8503920" y="2194560"/>
            <a:ext cx="2926080" cy="2926080"/>
          </a:xfrm>
          <a:prstGeom prst="ellipse">
            <a:avLst/>
          </a:prstGeom>
          <a:solidFill>
            <a:schemeClr val="tx2"/>
          </a:solidFill>
          <a:ln/>
        </p:spPr>
      </p:sp>
      <p:pic>
        <p:nvPicPr>
          <p:cNvPr id="12" name="Image 0" descr="preencoded.png">    </p:cNvPr>
          <p:cNvPicPr>
            <a:picLocks noChangeAspect="1"/>
          </p:cNvPicPr>
          <p:nvPr/>
        </p:nvPicPr>
        <p:blipFill>
          <a:blip r:embed="rId1"/>
          <a:stretch>
            <a:fillRect/>
          </a:stretch>
        </p:blipFill>
        <p:spPr>
          <a:xfrm>
            <a:off x="9326880" y="3017520"/>
            <a:ext cx="1280160" cy="1280160"/>
          </a:xfrm>
          <a:prstGeom prst="rect">
            <a:avLst/>
          </a:prstGeom>
        </p:spPr>
      </p:pic>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HOW IT WORKS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From webcam frame to alert, 30 times a second</a:t>
            </a:r>
            <a:endParaRPr lang="en-US" sz="3600" dirty="0"/>
          </a:p>
        </p:txBody>
      </p:sp>
      <p:sp>
        <p:nvSpPr>
          <p:cNvPr id="4" name="step 1"/>
          <p:cNvSpPr/>
          <p:nvPr/>
        </p:nvSpPr>
        <p:spPr>
          <a:xfrm>
            <a:off x="640080" y="2286000"/>
            <a:ext cx="2377440" cy="3200400"/>
          </a:xfrm>
          <a:prstGeom prst="roundRect">
            <a:avLst>
              <a:gd name="adj" fmla="val 5769"/>
            </a:avLst>
          </a:prstGeom>
          <a:solidFill>
            <a:schemeClr val="bg1"/>
          </a:solidFill>
          <a:ln w="12700">
            <a:solidFill>
              <a:schemeClr val="accent3"/>
            </a:solidFill>
            <a:prstDash val="solid"/>
          </a:ln>
        </p:spPr>
      </p:sp>
      <p:sp>
        <p:nvSpPr>
          <p:cNvPr id="5" name="Text 3"/>
          <p:cNvSpPr txBox="1"/>
          <p:nvPr/>
        </p:nvSpPr>
        <p:spPr>
          <a:xfrm>
            <a:off x="91440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a:t>
            </a:r>
            <a:endParaRPr lang="en-US" sz="4000" dirty="0"/>
          </a:p>
        </p:txBody>
      </p:sp>
      <p:sp>
        <p:nvSpPr>
          <p:cNvPr id="6" name="Text 4"/>
          <p:cNvSpPr txBox="1"/>
          <p:nvPr/>
        </p:nvSpPr>
        <p:spPr>
          <a:xfrm>
            <a:off x="91440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Capture</a:t>
            </a:r>
            <a:endParaRPr lang="en-US" sz="2000" dirty="0"/>
          </a:p>
        </p:txBody>
      </p:sp>
      <p:sp>
        <p:nvSpPr>
          <p:cNvPr id="7" name="Text 5"/>
          <p:cNvSpPr txBox="1"/>
          <p:nvPr/>
        </p:nvSpPr>
        <p:spPr>
          <a:xfrm>
            <a:off x="91440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OpenCV reads each webcam frame.</a:t>
            </a:r>
            <a:endParaRPr lang="en-US" sz="1500" dirty="0"/>
          </a:p>
        </p:txBody>
      </p:sp>
      <p:sp>
        <p:nvSpPr>
          <p:cNvPr id="8" name="arrow 1"/>
          <p:cNvSpPr/>
          <p:nvPr/>
        </p:nvSpPr>
        <p:spPr>
          <a:xfrm>
            <a:off x="3090672" y="3749040"/>
            <a:ext cx="274320" cy="274320"/>
          </a:xfrm>
          <a:prstGeom prst="rightArrow">
            <a:avLst/>
          </a:prstGeom>
          <a:solidFill>
            <a:schemeClr val="accent2"/>
          </a:solidFill>
          <a:ln/>
        </p:spPr>
      </p:sp>
      <p:sp>
        <p:nvSpPr>
          <p:cNvPr id="9" name="step 2"/>
          <p:cNvSpPr/>
          <p:nvPr/>
        </p:nvSpPr>
        <p:spPr>
          <a:xfrm>
            <a:off x="3429000" y="2286000"/>
            <a:ext cx="2377440" cy="3200400"/>
          </a:xfrm>
          <a:prstGeom prst="roundRect">
            <a:avLst>
              <a:gd name="adj" fmla="val 5769"/>
            </a:avLst>
          </a:prstGeom>
          <a:solidFill>
            <a:schemeClr val="bg1"/>
          </a:solidFill>
          <a:ln w="12700">
            <a:solidFill>
              <a:schemeClr val="accent3"/>
            </a:solidFill>
            <a:prstDash val="solid"/>
          </a:ln>
        </p:spPr>
      </p:sp>
      <p:sp>
        <p:nvSpPr>
          <p:cNvPr id="10" name="Text 8"/>
          <p:cNvSpPr txBox="1"/>
          <p:nvPr/>
        </p:nvSpPr>
        <p:spPr>
          <a:xfrm>
            <a:off x="370332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a:t>
            </a:r>
            <a:endParaRPr lang="en-US" sz="4000" dirty="0"/>
          </a:p>
        </p:txBody>
      </p:sp>
      <p:sp>
        <p:nvSpPr>
          <p:cNvPr id="11" name="Text 9"/>
          <p:cNvSpPr txBox="1"/>
          <p:nvPr/>
        </p:nvSpPr>
        <p:spPr>
          <a:xfrm>
            <a:off x="370332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Map the face</a:t>
            </a:r>
            <a:endParaRPr lang="en-US" sz="2000" dirty="0"/>
          </a:p>
        </p:txBody>
      </p:sp>
      <p:sp>
        <p:nvSpPr>
          <p:cNvPr id="12" name="Text 10"/>
          <p:cNvSpPr txBox="1"/>
          <p:nvPr/>
        </p:nvSpPr>
        <p:spPr>
          <a:xfrm>
            <a:off x="370332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MediaPipe finds 478 face points, including eyes and irises.</a:t>
            </a:r>
            <a:endParaRPr lang="en-US" sz="1500" dirty="0"/>
          </a:p>
        </p:txBody>
      </p:sp>
      <p:sp>
        <p:nvSpPr>
          <p:cNvPr id="13" name="arrow 2"/>
          <p:cNvSpPr/>
          <p:nvPr/>
        </p:nvSpPr>
        <p:spPr>
          <a:xfrm>
            <a:off x="5879592" y="3749040"/>
            <a:ext cx="274320" cy="274320"/>
          </a:xfrm>
          <a:prstGeom prst="rightArrow">
            <a:avLst/>
          </a:prstGeom>
          <a:solidFill>
            <a:schemeClr val="accent2"/>
          </a:solidFill>
          <a:ln/>
        </p:spPr>
      </p:sp>
      <p:sp>
        <p:nvSpPr>
          <p:cNvPr id="14" name="step 3"/>
          <p:cNvSpPr/>
          <p:nvPr/>
        </p:nvSpPr>
        <p:spPr>
          <a:xfrm>
            <a:off x="6217920" y="2286000"/>
            <a:ext cx="2377440" cy="3200400"/>
          </a:xfrm>
          <a:prstGeom prst="roundRect">
            <a:avLst>
              <a:gd name="adj" fmla="val 5769"/>
            </a:avLst>
          </a:prstGeom>
          <a:solidFill>
            <a:schemeClr val="bg1"/>
          </a:solidFill>
          <a:ln w="12700">
            <a:solidFill>
              <a:schemeClr val="accent3"/>
            </a:solidFill>
            <a:prstDash val="solid"/>
          </a:ln>
        </p:spPr>
      </p:sp>
      <p:sp>
        <p:nvSpPr>
          <p:cNvPr id="15" name="Text 13"/>
          <p:cNvSpPr txBox="1"/>
          <p:nvPr/>
        </p:nvSpPr>
        <p:spPr>
          <a:xfrm>
            <a:off x="649224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3</a:t>
            </a:r>
            <a:endParaRPr lang="en-US" sz="4000" dirty="0"/>
          </a:p>
        </p:txBody>
      </p:sp>
      <p:sp>
        <p:nvSpPr>
          <p:cNvPr id="16" name="Text 14"/>
          <p:cNvSpPr txBox="1"/>
          <p:nvPr/>
        </p:nvSpPr>
        <p:spPr>
          <a:xfrm>
            <a:off x="649224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Measure</a:t>
            </a:r>
            <a:endParaRPr lang="en-US" sz="2000" dirty="0"/>
          </a:p>
        </p:txBody>
      </p:sp>
      <p:sp>
        <p:nvSpPr>
          <p:cNvPr id="17" name="Text 15"/>
          <p:cNvSpPr txBox="1"/>
          <p:nvPr/>
        </p:nvSpPr>
        <p:spPr>
          <a:xfrm>
            <a:off x="649224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Python computes blink rate, distance and head tilt.</a:t>
            </a:r>
            <a:endParaRPr lang="en-US" sz="1500" dirty="0"/>
          </a:p>
        </p:txBody>
      </p:sp>
      <p:sp>
        <p:nvSpPr>
          <p:cNvPr id="18" name="arrow 3"/>
          <p:cNvSpPr/>
          <p:nvPr/>
        </p:nvSpPr>
        <p:spPr>
          <a:xfrm>
            <a:off x="8668512" y="3749040"/>
            <a:ext cx="274320" cy="274320"/>
          </a:xfrm>
          <a:prstGeom prst="rightArrow">
            <a:avLst/>
          </a:prstGeom>
          <a:solidFill>
            <a:schemeClr val="accent2"/>
          </a:solidFill>
          <a:ln/>
        </p:spPr>
      </p:sp>
      <p:sp>
        <p:nvSpPr>
          <p:cNvPr id="19" name="step 4"/>
          <p:cNvSpPr/>
          <p:nvPr/>
        </p:nvSpPr>
        <p:spPr>
          <a:xfrm>
            <a:off x="9006840" y="2286000"/>
            <a:ext cx="2377440" cy="3200400"/>
          </a:xfrm>
          <a:prstGeom prst="roundRect">
            <a:avLst>
              <a:gd name="adj" fmla="val 5769"/>
            </a:avLst>
          </a:prstGeom>
          <a:solidFill>
            <a:schemeClr val="tx2"/>
          </a:solidFill>
          <a:ln/>
        </p:spPr>
      </p:sp>
      <p:sp>
        <p:nvSpPr>
          <p:cNvPr id="20" name="Text 18"/>
          <p:cNvSpPr txBox="1"/>
          <p:nvPr/>
        </p:nvSpPr>
        <p:spPr>
          <a:xfrm>
            <a:off x="928116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21" name="Text 19"/>
          <p:cNvSpPr txBox="1"/>
          <p:nvPr/>
        </p:nvSpPr>
        <p:spPr>
          <a:xfrm>
            <a:off x="9281160" y="3429000"/>
            <a:ext cx="1828800" cy="45720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Alert and log</a:t>
            </a:r>
            <a:endParaRPr lang="en-US" sz="2000" dirty="0"/>
          </a:p>
        </p:txBody>
      </p:sp>
      <p:sp>
        <p:nvSpPr>
          <p:cNvPr id="22" name="Text 20"/>
          <p:cNvSpPr txBox="1"/>
          <p:nvPr/>
        </p:nvSpPr>
        <p:spPr>
          <a:xfrm>
            <a:off x="9281160" y="3977640"/>
            <a:ext cx="1828800" cy="1371600"/>
          </a:xfrm>
          <a:prstGeom prst="rect">
            <a:avLst/>
          </a:prstGeom>
          <a:noFill/>
          <a:ln/>
        </p:spPr>
        <p:txBody>
          <a:bodyPr wrap="square" lIns="0" tIns="0" rIns="0" bIns="0" rtlCol="0" anchor="t"/>
          <a:lstStyle/>
          <a:p>
            <a:pPr indent="0" marL="0">
              <a:buNone/>
            </a:pPr>
            <a:r>
              <a:rPr lang="en-US" sz="1500" dirty="0">
                <a:solidFill>
                  <a:schemeClr val="accent3"/>
                </a:solidFill>
              </a:rPr>
              <a:t>On-screen and sound alerts, plus a CSV log for reports.</a:t>
            </a:r>
            <a:endParaRPr lang="en-US" sz="1500" dirty="0"/>
          </a:p>
        </p:txBody>
      </p:sp>
      <p:sp>
        <p:nvSpPr>
          <p:cNvPr id="23" name="Text 21"/>
          <p:cNvSpPr txBox="1"/>
          <p:nvPr/>
        </p:nvSpPr>
        <p:spPr>
          <a:xfrm>
            <a:off x="640080" y="5760720"/>
            <a:ext cx="8229600" cy="365760"/>
          </a:xfrm>
          <a:prstGeom prst="rect">
            <a:avLst/>
          </a:prstGeom>
          <a:noFill/>
          <a:ln/>
        </p:spPr>
        <p:txBody>
          <a:bodyPr wrap="square" lIns="0" tIns="0" rIns="0" bIns="0" rtlCol="0" anchor="ctr"/>
          <a:lstStyle/>
          <a:p>
            <a:pPr indent="0" marL="0">
              <a:buNone/>
            </a:pPr>
            <a:r>
              <a:rPr lang="en-US" sz="1400" i="1" dirty="0">
                <a:solidFill>
                  <a:schemeClr val="accent2"/>
                </a:solidFill>
              </a:rPr>
              <a:t>Python · OpenCV · MediaPipe · NumPy · pandas · Matplotlib</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FEATURES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Six checks running at once</a:t>
            </a:r>
            <a:endParaRPr lang="en-US" sz="3600" dirty="0"/>
          </a:p>
        </p:txBody>
      </p:sp>
      <p:sp>
        <p:nvSpPr>
          <p:cNvPr id="4" name="feature Blink counter"/>
          <p:cNvSpPr/>
          <p:nvPr/>
        </p:nvSpPr>
        <p:spPr>
          <a:xfrm>
            <a:off x="640080" y="1920240"/>
            <a:ext cx="3456432" cy="1874520"/>
          </a:xfrm>
          <a:prstGeom prst="roundRect">
            <a:avLst>
              <a:gd name="adj" fmla="val 7317"/>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14400" y="2194560"/>
            <a:ext cx="411480" cy="411480"/>
          </a:xfrm>
          <a:prstGeom prst="rect">
            <a:avLst/>
          </a:prstGeom>
        </p:spPr>
      </p:pic>
      <p:sp>
        <p:nvSpPr>
          <p:cNvPr id="6" name="Text 3"/>
          <p:cNvSpPr txBox="1"/>
          <p:nvPr/>
        </p:nvSpPr>
        <p:spPr>
          <a:xfrm>
            <a:off x="1508760"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Blink counter</a:t>
            </a:r>
            <a:endParaRPr lang="en-US" sz="2000" dirty="0"/>
          </a:p>
        </p:txBody>
      </p:sp>
      <p:sp>
        <p:nvSpPr>
          <p:cNvPr id="7" name="Text 4"/>
          <p:cNvSpPr txBox="1"/>
          <p:nvPr/>
        </p:nvSpPr>
        <p:spPr>
          <a:xfrm>
            <a:off x="914400"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Live blinks per minute; alert below 10.</a:t>
            </a:r>
            <a:endParaRPr lang="en-US" sz="1500" dirty="0"/>
          </a:p>
        </p:txBody>
      </p:sp>
      <p:sp>
        <p:nvSpPr>
          <p:cNvPr id="8" name="feature Distance meter"/>
          <p:cNvSpPr/>
          <p:nvPr/>
        </p:nvSpPr>
        <p:spPr>
          <a:xfrm>
            <a:off x="4370832" y="1920240"/>
            <a:ext cx="3456432" cy="1874520"/>
          </a:xfrm>
          <a:prstGeom prst="roundRect">
            <a:avLst>
              <a:gd name="adj" fmla="val 7317"/>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45152" y="2194560"/>
            <a:ext cx="411480" cy="411480"/>
          </a:xfrm>
          <a:prstGeom prst="rect">
            <a:avLst/>
          </a:prstGeom>
        </p:spPr>
      </p:pic>
      <p:sp>
        <p:nvSpPr>
          <p:cNvPr id="10" name="Text 6"/>
          <p:cNvSpPr txBox="1"/>
          <p:nvPr/>
        </p:nvSpPr>
        <p:spPr>
          <a:xfrm>
            <a:off x="5239512"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Distance meter</a:t>
            </a:r>
            <a:endParaRPr lang="en-US" sz="2000" dirty="0"/>
          </a:p>
        </p:txBody>
      </p:sp>
      <p:sp>
        <p:nvSpPr>
          <p:cNvPr id="11" name="Text 7"/>
          <p:cNvSpPr txBox="1"/>
          <p:nvPr/>
        </p:nvSpPr>
        <p:spPr>
          <a:xfrm>
            <a:off x="4645152"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"Too close" alert under 50 cm.</a:t>
            </a:r>
            <a:endParaRPr lang="en-US" sz="1500" dirty="0"/>
          </a:p>
        </p:txBody>
      </p:sp>
      <p:sp>
        <p:nvSpPr>
          <p:cNvPr id="12" name="feature 20-20-20 breaks"/>
          <p:cNvSpPr/>
          <p:nvPr/>
        </p:nvSpPr>
        <p:spPr>
          <a:xfrm>
            <a:off x="8101584" y="1920240"/>
            <a:ext cx="3456432" cy="1874520"/>
          </a:xfrm>
          <a:prstGeom prst="roundRect">
            <a:avLst>
              <a:gd name="adj" fmla="val 7317"/>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375904" y="2194560"/>
            <a:ext cx="411480" cy="411480"/>
          </a:xfrm>
          <a:prstGeom prst="rect">
            <a:avLst/>
          </a:prstGeom>
        </p:spPr>
      </p:pic>
      <p:sp>
        <p:nvSpPr>
          <p:cNvPr id="14" name="Text 9"/>
          <p:cNvSpPr txBox="1"/>
          <p:nvPr/>
        </p:nvSpPr>
        <p:spPr>
          <a:xfrm>
            <a:off x="8970264"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20-20-20 breaks</a:t>
            </a:r>
            <a:endParaRPr lang="en-US" sz="2000" dirty="0"/>
          </a:p>
        </p:txBody>
      </p:sp>
      <p:sp>
        <p:nvSpPr>
          <p:cNvPr id="15" name="Text 10"/>
          <p:cNvSpPr txBox="1"/>
          <p:nvPr/>
        </p:nvSpPr>
        <p:spPr>
          <a:xfrm>
            <a:off x="8375904"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Every 20 minutes, look 20 feet away for 20 seconds.</a:t>
            </a:r>
            <a:endParaRPr lang="en-US" sz="1500" dirty="0"/>
          </a:p>
        </p:txBody>
      </p:sp>
      <p:sp>
        <p:nvSpPr>
          <p:cNvPr id="16" name="feature Drowsiness"/>
          <p:cNvSpPr/>
          <p:nvPr/>
        </p:nvSpPr>
        <p:spPr>
          <a:xfrm>
            <a:off x="640080" y="4069080"/>
            <a:ext cx="3456432" cy="1874520"/>
          </a:xfrm>
          <a:prstGeom prst="roundRect">
            <a:avLst>
              <a:gd name="adj" fmla="val 7317"/>
            </a:avLst>
          </a:prstGeom>
          <a:solidFill>
            <a:schemeClr val="bg1"/>
          </a:solidFill>
          <a:ln w="12700">
            <a:solidFill>
              <a:schemeClr val="accent3"/>
            </a:solidFill>
            <a:prstDash val="solid"/>
          </a:ln>
        </p:spPr>
      </p:sp>
      <p:pic>
        <p:nvPicPr>
          <p:cNvPr id="17" name="Image 3" descr="preencoded.png">    </p:cNvPr>
          <p:cNvPicPr>
            <a:picLocks noChangeAspect="1"/>
          </p:cNvPicPr>
          <p:nvPr/>
        </p:nvPicPr>
        <p:blipFill>
          <a:blip r:embed="rId4"/>
          <a:stretch>
            <a:fillRect/>
          </a:stretch>
        </p:blipFill>
        <p:spPr>
          <a:xfrm>
            <a:off x="914400" y="4343400"/>
            <a:ext cx="411480" cy="411480"/>
          </a:xfrm>
          <a:prstGeom prst="rect">
            <a:avLst/>
          </a:prstGeom>
        </p:spPr>
      </p:pic>
      <p:sp>
        <p:nvSpPr>
          <p:cNvPr id="18" name="Text 12"/>
          <p:cNvSpPr txBox="1"/>
          <p:nvPr/>
        </p:nvSpPr>
        <p:spPr>
          <a:xfrm>
            <a:off x="1508760" y="432511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Drowsiness</a:t>
            </a:r>
            <a:endParaRPr lang="en-US" sz="2000" dirty="0"/>
          </a:p>
        </p:txBody>
      </p:sp>
      <p:sp>
        <p:nvSpPr>
          <p:cNvPr id="19" name="Text 13"/>
          <p:cNvSpPr txBox="1"/>
          <p:nvPr/>
        </p:nvSpPr>
        <p:spPr>
          <a:xfrm>
            <a:off x="914400" y="493776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Eyes closed over 2 seconds triggers a rest alert.</a:t>
            </a:r>
            <a:endParaRPr lang="en-US" sz="1500" dirty="0"/>
          </a:p>
        </p:txBody>
      </p:sp>
      <p:sp>
        <p:nvSpPr>
          <p:cNvPr id="20" name="feature Posture and light"/>
          <p:cNvSpPr/>
          <p:nvPr/>
        </p:nvSpPr>
        <p:spPr>
          <a:xfrm>
            <a:off x="4370832" y="4069080"/>
            <a:ext cx="3456432" cy="1874520"/>
          </a:xfrm>
          <a:prstGeom prst="roundRect">
            <a:avLst>
              <a:gd name="adj" fmla="val 7317"/>
            </a:avLst>
          </a:prstGeom>
          <a:solidFill>
            <a:schemeClr val="bg1"/>
          </a:solidFill>
          <a:ln w="12700">
            <a:solidFill>
              <a:schemeClr val="accent3"/>
            </a:solidFill>
            <a:prstDash val="solid"/>
          </a:ln>
        </p:spPr>
      </p:sp>
      <p:pic>
        <p:nvPicPr>
          <p:cNvPr id="21" name="Image 4" descr="preencoded.png">    </p:cNvPr>
          <p:cNvPicPr>
            <a:picLocks noChangeAspect="1"/>
          </p:cNvPicPr>
          <p:nvPr/>
        </p:nvPicPr>
        <p:blipFill>
          <a:blip r:embed="rId5"/>
          <a:stretch>
            <a:fillRect/>
          </a:stretch>
        </p:blipFill>
        <p:spPr>
          <a:xfrm>
            <a:off x="4645152" y="4343400"/>
            <a:ext cx="411480" cy="411480"/>
          </a:xfrm>
          <a:prstGeom prst="rect">
            <a:avLst/>
          </a:prstGeom>
        </p:spPr>
      </p:pic>
      <p:sp>
        <p:nvSpPr>
          <p:cNvPr id="22" name="Text 15"/>
          <p:cNvSpPr txBox="1"/>
          <p:nvPr/>
        </p:nvSpPr>
        <p:spPr>
          <a:xfrm>
            <a:off x="5239512" y="432511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Posture and light</a:t>
            </a:r>
            <a:endParaRPr lang="en-US" sz="2000" dirty="0"/>
          </a:p>
        </p:txBody>
      </p:sp>
      <p:sp>
        <p:nvSpPr>
          <p:cNvPr id="23" name="Text 16"/>
          <p:cNvSpPr txBox="1"/>
          <p:nvPr/>
        </p:nvSpPr>
        <p:spPr>
          <a:xfrm>
            <a:off x="4645152" y="493776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Warns on head tilt and dark rooms.</a:t>
            </a:r>
            <a:endParaRPr lang="en-US" sz="1500" dirty="0"/>
          </a:p>
        </p:txBody>
      </p:sp>
      <p:sp>
        <p:nvSpPr>
          <p:cNvPr id="24" name="feature Strain score"/>
          <p:cNvSpPr/>
          <p:nvPr/>
        </p:nvSpPr>
        <p:spPr>
          <a:xfrm>
            <a:off x="8101584" y="4069080"/>
            <a:ext cx="3456432" cy="1874520"/>
          </a:xfrm>
          <a:prstGeom prst="roundRect">
            <a:avLst>
              <a:gd name="adj" fmla="val 7317"/>
            </a:avLst>
          </a:prstGeom>
          <a:solidFill>
            <a:schemeClr val="tx2"/>
          </a:solidFill>
          <a:ln/>
        </p:spPr>
      </p:sp>
      <p:pic>
        <p:nvPicPr>
          <p:cNvPr id="25" name="Image 5" descr="preencoded.png">    </p:cNvPr>
          <p:cNvPicPr>
            <a:picLocks noChangeAspect="1"/>
          </p:cNvPicPr>
          <p:nvPr/>
        </p:nvPicPr>
        <p:blipFill>
          <a:blip r:embed="rId6"/>
          <a:stretch>
            <a:fillRect/>
          </a:stretch>
        </p:blipFill>
        <p:spPr>
          <a:xfrm>
            <a:off x="8375904" y="4343400"/>
            <a:ext cx="411480" cy="411480"/>
          </a:xfrm>
          <a:prstGeom prst="rect">
            <a:avLst/>
          </a:prstGeom>
        </p:spPr>
      </p:pic>
      <p:sp>
        <p:nvSpPr>
          <p:cNvPr id="26" name="Text 18"/>
          <p:cNvSpPr txBox="1"/>
          <p:nvPr/>
        </p:nvSpPr>
        <p:spPr>
          <a:xfrm>
            <a:off x="8970264" y="4325112"/>
            <a:ext cx="2359152" cy="45720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Strain score</a:t>
            </a:r>
            <a:endParaRPr lang="en-US" sz="2000" dirty="0"/>
          </a:p>
        </p:txBody>
      </p:sp>
      <p:sp>
        <p:nvSpPr>
          <p:cNvPr id="27" name="Text 19"/>
          <p:cNvSpPr txBox="1"/>
          <p:nvPr/>
        </p:nvSpPr>
        <p:spPr>
          <a:xfrm>
            <a:off x="8375904" y="4937760"/>
            <a:ext cx="2907792" cy="868680"/>
          </a:xfrm>
          <a:prstGeom prst="rect">
            <a:avLst/>
          </a:prstGeom>
          <a:noFill/>
          <a:ln/>
        </p:spPr>
        <p:txBody>
          <a:bodyPr wrap="square" lIns="0" tIns="0" rIns="0" bIns="0" rtlCol="0" anchor="t"/>
          <a:lstStyle/>
          <a:p>
            <a:pPr indent="0" marL="0">
              <a:buNone/>
            </a:pPr>
            <a:r>
              <a:rPr lang="en-US" sz="1500" dirty="0">
                <a:solidFill>
                  <a:schemeClr val="accent3"/>
                </a:solidFill>
              </a:rPr>
              <a:t>One 0–100 number, plus a session report with tips.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THE SCIENCE BEHIND IT</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Two simple formulas do the heavy lifting</a:t>
            </a:r>
            <a:endParaRPr lang="en-US" sz="3600" dirty="0"/>
          </a:p>
        </p:txBody>
      </p:sp>
      <p:sp>
        <p:nvSpPr>
          <p:cNvPr id="4" name="formula 0"/>
          <p:cNvSpPr/>
          <p:nvPr/>
        </p:nvSpPr>
        <p:spPr>
          <a:xfrm>
            <a:off x="640080" y="2011680"/>
            <a:ext cx="5303520" cy="3657600"/>
          </a:xfrm>
          <a:prstGeom prst="roundRect">
            <a:avLst>
              <a:gd name="adj" fmla="val 3750"/>
            </a:avLst>
          </a:prstGeom>
          <a:solidFill>
            <a:schemeClr val="bg1"/>
          </a:solidFill>
          <a:ln w="12700">
            <a:solidFill>
              <a:schemeClr val="accent3"/>
            </a:solidFill>
            <a:prstDash val="solid"/>
          </a:ln>
        </p:spPr>
      </p:sp>
      <p:sp>
        <p:nvSpPr>
          <p:cNvPr id="5" name="Text 3"/>
          <p:cNvSpPr txBox="1"/>
          <p:nvPr/>
        </p:nvSpPr>
        <p:spPr>
          <a:xfrm>
            <a:off x="1005840" y="2331720"/>
            <a:ext cx="457200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Blinks: Eye Aspect Ratio</a:t>
            </a:r>
            <a:endParaRPr lang="en-US" sz="2200" dirty="0"/>
          </a:p>
        </p:txBody>
      </p:sp>
      <p:sp>
        <p:nvSpPr>
          <p:cNvPr id="6" name="formula box 0"/>
          <p:cNvSpPr/>
          <p:nvPr/>
        </p:nvSpPr>
        <p:spPr>
          <a:xfrm>
            <a:off x="1005840" y="2926080"/>
            <a:ext cx="4572000" cy="640080"/>
          </a:xfrm>
          <a:prstGeom prst="roundRect">
            <a:avLst>
              <a:gd name="adj" fmla="val 14286"/>
            </a:avLst>
          </a:prstGeom>
          <a:solidFill>
            <a:schemeClr val="accent4"/>
          </a:solidFill>
          <a:ln/>
        </p:spPr>
      </p:sp>
      <p:sp>
        <p:nvSpPr>
          <p:cNvPr id="7" name="Text 5"/>
          <p:cNvSpPr txBox="1"/>
          <p:nvPr/>
        </p:nvSpPr>
        <p:spPr>
          <a:xfrm>
            <a:off x="1188720" y="2926080"/>
            <a:ext cx="4206240" cy="64008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EAR = eye height ÷ eye width</a:t>
            </a:r>
            <a:endParaRPr lang="en-US" sz="1800" dirty="0"/>
          </a:p>
        </p:txBody>
      </p:sp>
      <p:sp>
        <p:nvSpPr>
          <p:cNvPr id="8" name="Text 6"/>
          <p:cNvSpPr txBox="1"/>
          <p:nvPr/>
        </p:nvSpPr>
        <p:spPr>
          <a:xfrm>
            <a:off x="1005840" y="3794760"/>
            <a:ext cx="4572000" cy="1737360"/>
          </a:xfrm>
          <a:prstGeom prst="rect">
            <a:avLst/>
          </a:prstGeom>
          <a:noFill/>
          <a:ln/>
        </p:spPr>
        <p:txBody>
          <a:bodyPr wrap="square" lIns="0" tIns="0" rIns="0" bIns="0" rtlCol="0" anchor="t"/>
          <a:lstStyle/>
          <a:p>
            <a:pPr indent="0" marL="0">
              <a:buNone/>
            </a:pPr>
            <a:r>
              <a:rPr lang="en-US" sz="1500" dirty="0">
                <a:solidFill>
                  <a:schemeClr val="accent5"/>
                </a:solidFill>
              </a:rPr>
              <a:t>6 points around each eye. An open eye gives about 0.3; a closed eye drops sharply. A short dip below the threshold counts as one blink. The threshold is tuned to each user in the first 3 seconds.</a:t>
            </a:r>
            <a:endParaRPr lang="en-US" sz="1500" dirty="0"/>
          </a:p>
        </p:txBody>
      </p:sp>
      <p:sp>
        <p:nvSpPr>
          <p:cNvPr id="9" name="formula 1"/>
          <p:cNvSpPr/>
          <p:nvPr/>
        </p:nvSpPr>
        <p:spPr>
          <a:xfrm>
            <a:off x="6245352" y="2011680"/>
            <a:ext cx="5303520" cy="3657600"/>
          </a:xfrm>
          <a:prstGeom prst="roundRect">
            <a:avLst>
              <a:gd name="adj" fmla="val 3750"/>
            </a:avLst>
          </a:prstGeom>
          <a:solidFill>
            <a:schemeClr val="bg1"/>
          </a:solidFill>
          <a:ln w="12700">
            <a:solidFill>
              <a:schemeClr val="accent3"/>
            </a:solidFill>
            <a:prstDash val="solid"/>
          </a:ln>
        </p:spPr>
      </p:sp>
      <p:sp>
        <p:nvSpPr>
          <p:cNvPr id="10" name="Text 8"/>
          <p:cNvSpPr txBox="1"/>
          <p:nvPr/>
        </p:nvSpPr>
        <p:spPr>
          <a:xfrm>
            <a:off x="6611112" y="2331720"/>
            <a:ext cx="457200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Distance: the iris trick</a:t>
            </a:r>
            <a:endParaRPr lang="en-US" sz="2200" dirty="0"/>
          </a:p>
        </p:txBody>
      </p:sp>
      <p:sp>
        <p:nvSpPr>
          <p:cNvPr id="11" name="formula box 1"/>
          <p:cNvSpPr/>
          <p:nvPr/>
        </p:nvSpPr>
        <p:spPr>
          <a:xfrm>
            <a:off x="6611112" y="2926080"/>
            <a:ext cx="4572000" cy="640080"/>
          </a:xfrm>
          <a:prstGeom prst="roundRect">
            <a:avLst>
              <a:gd name="adj" fmla="val 14286"/>
            </a:avLst>
          </a:prstGeom>
          <a:solidFill>
            <a:schemeClr val="accent4"/>
          </a:solidFill>
          <a:ln/>
        </p:spPr>
      </p:sp>
      <p:sp>
        <p:nvSpPr>
          <p:cNvPr id="12" name="Text 10"/>
          <p:cNvSpPr txBox="1"/>
          <p:nvPr/>
        </p:nvSpPr>
        <p:spPr>
          <a:xfrm>
            <a:off x="6793992" y="2926080"/>
            <a:ext cx="4206240" cy="64008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d = f × 1.17 cm ÷ iris px</a:t>
            </a:r>
            <a:endParaRPr lang="en-US" sz="1800" dirty="0"/>
          </a:p>
        </p:txBody>
      </p:sp>
      <p:sp>
        <p:nvSpPr>
          <p:cNvPr id="13" name="Text 11"/>
          <p:cNvSpPr txBox="1"/>
          <p:nvPr/>
        </p:nvSpPr>
        <p:spPr>
          <a:xfrm>
            <a:off x="6611112" y="3794760"/>
            <a:ext cx="4572000" cy="1737360"/>
          </a:xfrm>
          <a:prstGeom prst="rect">
            <a:avLst/>
          </a:prstGeom>
          <a:noFill/>
          <a:ln/>
        </p:spPr>
        <p:txBody>
          <a:bodyPr wrap="square" lIns="0" tIns="0" rIns="0" bIns="0" rtlCol="0" anchor="t"/>
          <a:lstStyle/>
          <a:p>
            <a:pPr indent="0" marL="0">
              <a:buNone/>
            </a:pPr>
            <a:r>
              <a:rPr lang="en-US" sz="1500" dirty="0">
                <a:solidFill>
                  <a:schemeClr val="accent5"/>
                </a:solidFill>
              </a:rPr>
              <a:t>The human iris is about 11.7 mm wide in almost every adult. The smaller it looks on camera, the farther away you are. One calibration at 50 cm makes it accurate.</a:t>
            </a:r>
            <a:endParaRPr lang="en-US" sz="1500" dirty="0"/>
          </a:p>
        </p:txBody>
      </p:sp>
      <p:sp>
        <p:nvSpPr>
          <p:cNvPr id="14" name="Text 12"/>
          <p:cNvSpPr txBox="1"/>
          <p:nvPr/>
        </p:nvSpPr>
        <p:spPr>
          <a:xfrm>
            <a:off x="640080" y="5852160"/>
            <a:ext cx="10881360" cy="365760"/>
          </a:xfrm>
          <a:prstGeom prst="rect">
            <a:avLst/>
          </a:prstGeom>
          <a:noFill/>
          <a:ln/>
        </p:spPr>
        <p:txBody>
          <a:bodyPr wrap="square" lIns="0" tIns="0" rIns="0" bIns="0" rtlCol="0" anchor="ctr"/>
          <a:lstStyle/>
          <a:p>
            <a:pPr indent="0" marL="0">
              <a:buNone/>
            </a:pPr>
            <a:r>
              <a:rPr lang="en-US" sz="1400" i="1" dirty="0">
                <a:solidFill>
                  <a:schemeClr val="accent2"/>
                </a:solidFill>
              </a:rPr>
              <a:t>Strain score = low blinks (40) + too close (30) + time since break (20) + drowsiness (10)</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1"/>
                </a:solidFill>
              </a:rPr>
              <a:t>LIVE DEMO</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Watch EyeGuard catch strain in real time</a:t>
            </a:r>
            <a:endParaRPr lang="en-US" sz="3600" dirty="0"/>
          </a:p>
        </p:txBody>
      </p:sp>
      <p:sp>
        <p:nvSpPr>
          <p:cNvPr id="4" name="demo step 1"/>
          <p:cNvSpPr/>
          <p:nvPr/>
        </p:nvSpPr>
        <p:spPr>
          <a:xfrm>
            <a:off x="640080" y="1920240"/>
            <a:ext cx="10881360" cy="658368"/>
          </a:xfrm>
          <a:prstGeom prst="roundRect">
            <a:avLst>
              <a:gd name="adj" fmla="val 13889"/>
            </a:avLst>
          </a:prstGeom>
          <a:solidFill>
            <a:srgbClr val="174A4D"/>
          </a:solidFill>
          <a:ln/>
        </p:spPr>
      </p:sp>
      <p:sp>
        <p:nvSpPr>
          <p:cNvPr id="5" name="Text 3"/>
          <p:cNvSpPr txBox="1"/>
          <p:nvPr/>
        </p:nvSpPr>
        <p:spPr>
          <a:xfrm>
            <a:off x="914400" y="1920240"/>
            <a:ext cx="457200"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a:t>
            </a:r>
            <a:endParaRPr lang="en-US" sz="2400" dirty="0"/>
          </a:p>
        </p:txBody>
      </p:sp>
      <p:sp>
        <p:nvSpPr>
          <p:cNvPr id="6" name="Text 4"/>
          <p:cNvSpPr txBox="1"/>
          <p:nvPr/>
        </p:nvSpPr>
        <p:spPr>
          <a:xfrm>
            <a:off x="1554480" y="1920240"/>
            <a:ext cx="9692640" cy="658368"/>
          </a:xfrm>
          <a:prstGeom prst="rect">
            <a:avLst/>
          </a:prstGeom>
          <a:noFill/>
          <a:ln/>
        </p:spPr>
        <p:txBody>
          <a:bodyPr wrap="square" lIns="0" tIns="0" rIns="0" bIns="0" rtlCol="0" anchor="ctr"/>
          <a:lstStyle/>
          <a:p>
            <a:pPr indent="0" marL="0">
              <a:buNone/>
            </a:pPr>
            <a:r>
              <a:rPr lang="en-US" sz="1900" dirty="0">
                <a:solidFill>
                  <a:schemeClr val="bg1"/>
                </a:solidFill>
              </a:rPr>
              <a:t>Start EyeGuard: the blink count appears live</a:t>
            </a:r>
            <a:endParaRPr lang="en-US" sz="1900" dirty="0"/>
          </a:p>
        </p:txBody>
      </p:sp>
      <p:sp>
        <p:nvSpPr>
          <p:cNvPr id="7" name="demo step 2"/>
          <p:cNvSpPr/>
          <p:nvPr/>
        </p:nvSpPr>
        <p:spPr>
          <a:xfrm>
            <a:off x="640080" y="2724912"/>
            <a:ext cx="10881360" cy="658368"/>
          </a:xfrm>
          <a:prstGeom prst="roundRect">
            <a:avLst>
              <a:gd name="adj" fmla="val 13889"/>
            </a:avLst>
          </a:prstGeom>
          <a:solidFill>
            <a:srgbClr val="174A4D"/>
          </a:solidFill>
          <a:ln/>
        </p:spPr>
      </p:sp>
      <p:sp>
        <p:nvSpPr>
          <p:cNvPr id="8" name="Text 6"/>
          <p:cNvSpPr txBox="1"/>
          <p:nvPr/>
        </p:nvSpPr>
        <p:spPr>
          <a:xfrm>
            <a:off x="914400" y="2724912"/>
            <a:ext cx="457200"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a:t>
            </a:r>
            <a:endParaRPr lang="en-US" sz="2400" dirty="0"/>
          </a:p>
        </p:txBody>
      </p:sp>
      <p:sp>
        <p:nvSpPr>
          <p:cNvPr id="9" name="Text 7"/>
          <p:cNvSpPr txBox="1"/>
          <p:nvPr/>
        </p:nvSpPr>
        <p:spPr>
          <a:xfrm>
            <a:off x="1554480" y="2724912"/>
            <a:ext cx="9692640" cy="658368"/>
          </a:xfrm>
          <a:prstGeom prst="rect">
            <a:avLst/>
          </a:prstGeom>
          <a:noFill/>
          <a:ln/>
        </p:spPr>
        <p:txBody>
          <a:bodyPr wrap="square" lIns="0" tIns="0" rIns="0" bIns="0" rtlCol="0" anchor="ctr"/>
          <a:lstStyle/>
          <a:p>
            <a:pPr indent="0" marL="0">
              <a:buNone/>
            </a:pPr>
            <a:r>
              <a:rPr lang="en-US" sz="1900" dirty="0">
                <a:solidFill>
                  <a:schemeClr val="bg1"/>
                </a:solidFill>
              </a:rPr>
              <a:t>Stare without blinking: the low-blink alert fires</a:t>
            </a:r>
            <a:endParaRPr lang="en-US" sz="1900" dirty="0"/>
          </a:p>
        </p:txBody>
      </p:sp>
      <p:sp>
        <p:nvSpPr>
          <p:cNvPr id="10" name="demo step 3"/>
          <p:cNvSpPr/>
          <p:nvPr/>
        </p:nvSpPr>
        <p:spPr>
          <a:xfrm>
            <a:off x="640080" y="3529584"/>
            <a:ext cx="10881360" cy="658368"/>
          </a:xfrm>
          <a:prstGeom prst="roundRect">
            <a:avLst>
              <a:gd name="adj" fmla="val 13889"/>
            </a:avLst>
          </a:prstGeom>
          <a:solidFill>
            <a:srgbClr val="174A4D"/>
          </a:solidFill>
          <a:ln/>
        </p:spPr>
      </p:sp>
      <p:sp>
        <p:nvSpPr>
          <p:cNvPr id="11" name="Text 9"/>
          <p:cNvSpPr txBox="1"/>
          <p:nvPr/>
        </p:nvSpPr>
        <p:spPr>
          <a:xfrm>
            <a:off x="914400" y="3529584"/>
            <a:ext cx="457200"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3</a:t>
            </a:r>
            <a:endParaRPr lang="en-US" sz="2400" dirty="0"/>
          </a:p>
        </p:txBody>
      </p:sp>
      <p:sp>
        <p:nvSpPr>
          <p:cNvPr id="12" name="Text 10"/>
          <p:cNvSpPr txBox="1"/>
          <p:nvPr/>
        </p:nvSpPr>
        <p:spPr>
          <a:xfrm>
            <a:off x="1554480" y="3529584"/>
            <a:ext cx="9692640" cy="658368"/>
          </a:xfrm>
          <a:prstGeom prst="rect">
            <a:avLst/>
          </a:prstGeom>
          <a:noFill/>
          <a:ln/>
        </p:spPr>
        <p:txBody>
          <a:bodyPr wrap="square" lIns="0" tIns="0" rIns="0" bIns="0" rtlCol="0" anchor="ctr"/>
          <a:lstStyle/>
          <a:p>
            <a:pPr indent="0" marL="0">
              <a:buNone/>
            </a:pPr>
            <a:r>
              <a:rPr lang="en-US" sz="1900" dirty="0">
                <a:solidFill>
                  <a:schemeClr val="bg1"/>
                </a:solidFill>
              </a:rPr>
              <a:t>Lean in: "Too close!" shows the distance in cm</a:t>
            </a:r>
            <a:endParaRPr lang="en-US" sz="1900" dirty="0"/>
          </a:p>
        </p:txBody>
      </p:sp>
      <p:sp>
        <p:nvSpPr>
          <p:cNvPr id="13" name="demo step 4"/>
          <p:cNvSpPr/>
          <p:nvPr/>
        </p:nvSpPr>
        <p:spPr>
          <a:xfrm>
            <a:off x="640080" y="4334256"/>
            <a:ext cx="10881360" cy="658368"/>
          </a:xfrm>
          <a:prstGeom prst="roundRect">
            <a:avLst>
              <a:gd name="adj" fmla="val 13889"/>
            </a:avLst>
          </a:prstGeom>
          <a:solidFill>
            <a:srgbClr val="174A4D"/>
          </a:solidFill>
          <a:ln/>
        </p:spPr>
      </p:sp>
      <p:sp>
        <p:nvSpPr>
          <p:cNvPr id="14" name="Text 12"/>
          <p:cNvSpPr txBox="1"/>
          <p:nvPr/>
        </p:nvSpPr>
        <p:spPr>
          <a:xfrm>
            <a:off x="914400" y="4334256"/>
            <a:ext cx="457200"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4</a:t>
            </a:r>
            <a:endParaRPr lang="en-US" sz="2400" dirty="0"/>
          </a:p>
        </p:txBody>
      </p:sp>
      <p:sp>
        <p:nvSpPr>
          <p:cNvPr id="15" name="Text 13"/>
          <p:cNvSpPr txBox="1"/>
          <p:nvPr/>
        </p:nvSpPr>
        <p:spPr>
          <a:xfrm>
            <a:off x="1554480" y="4334256"/>
            <a:ext cx="9692640" cy="658368"/>
          </a:xfrm>
          <a:prstGeom prst="rect">
            <a:avLst/>
          </a:prstGeom>
          <a:noFill/>
          <a:ln/>
        </p:spPr>
        <p:txBody>
          <a:bodyPr wrap="square" lIns="0" tIns="0" rIns="0" bIns="0" rtlCol="0" anchor="ctr"/>
          <a:lstStyle/>
          <a:p>
            <a:pPr indent="0" marL="0">
              <a:buNone/>
            </a:pPr>
            <a:r>
              <a:rPr lang="en-US" sz="1900" dirty="0">
                <a:solidFill>
                  <a:schemeClr val="bg1"/>
                </a:solidFill>
              </a:rPr>
              <a:t>Break time: keep looking at the screen and the timer pauses</a:t>
            </a:r>
            <a:endParaRPr lang="en-US" sz="1900" dirty="0"/>
          </a:p>
        </p:txBody>
      </p:sp>
      <p:sp>
        <p:nvSpPr>
          <p:cNvPr id="16" name="demo step 5"/>
          <p:cNvSpPr/>
          <p:nvPr/>
        </p:nvSpPr>
        <p:spPr>
          <a:xfrm>
            <a:off x="640080" y="5138928"/>
            <a:ext cx="10881360" cy="658368"/>
          </a:xfrm>
          <a:prstGeom prst="roundRect">
            <a:avLst>
              <a:gd name="adj" fmla="val 13889"/>
            </a:avLst>
          </a:prstGeom>
          <a:solidFill>
            <a:srgbClr val="174A4D"/>
          </a:solidFill>
          <a:ln/>
        </p:spPr>
      </p:sp>
      <p:sp>
        <p:nvSpPr>
          <p:cNvPr id="17" name="Text 15"/>
          <p:cNvSpPr txBox="1"/>
          <p:nvPr/>
        </p:nvSpPr>
        <p:spPr>
          <a:xfrm>
            <a:off x="914400" y="5138928"/>
            <a:ext cx="457200" cy="658368"/>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5</a:t>
            </a:r>
            <a:endParaRPr lang="en-US" sz="2400" dirty="0"/>
          </a:p>
        </p:txBody>
      </p:sp>
      <p:sp>
        <p:nvSpPr>
          <p:cNvPr id="18" name="Text 16"/>
          <p:cNvSpPr txBox="1"/>
          <p:nvPr/>
        </p:nvSpPr>
        <p:spPr>
          <a:xfrm>
            <a:off x="1554480" y="5138928"/>
            <a:ext cx="9692640" cy="658368"/>
          </a:xfrm>
          <a:prstGeom prst="rect">
            <a:avLst/>
          </a:prstGeom>
          <a:noFill/>
          <a:ln/>
        </p:spPr>
        <p:txBody>
          <a:bodyPr wrap="square" lIns="0" tIns="0" rIns="0" bIns="0" rtlCol="0" anchor="ctr"/>
          <a:lstStyle/>
          <a:p>
            <a:pPr indent="0" marL="0">
              <a:buNone/>
            </a:pPr>
            <a:r>
              <a:rPr lang="en-US" sz="1900" dirty="0">
                <a:solidFill>
                  <a:schemeClr val="bg1"/>
                </a:solidFill>
              </a:rPr>
              <a:t>Open the session report and strain score</a:t>
            </a:r>
            <a:endParaRPr lang="en-US" sz="19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WHAT MAKES IT DIFFERENT</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It checks that you actually rest</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881360" cy="914400"/>
        </p:xfrm>
        <a:graphic>
          <a:graphicData uri="http://schemas.openxmlformats.org/drawingml/2006/table">
            <a:tbl>
              <a:tblPr/>
              <a:tblGrid>
                <a:gridCol w="4480560"/>
                <a:gridCol w="3200400"/>
                <a:gridCol w="3200400"/>
              </a:tblGrid>
              <a:tr h="566928">
                <a:tc>
                  <a:txBody>
                    <a:bodyPr/>
                    <a:lstStyle/>
                    <a:p>
                      <a:pPr indent="0" marL="0">
                        <a:buNone/>
                      </a:pPr>
                      <a:r>
                        <a:rPr lang="en-US" sz="1700" b="1" dirty="0">
                          <a:solidFill>
                            <a:schemeClr val="bg1"/>
                          </a:solidFill>
                        </a:rPr>
                        <a:t>Feature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Typical break timer</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EyeGuard</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r>
              <a:tr h="566928">
                <a:tc>
                  <a:txBody>
                    <a:bodyPr/>
                    <a:lstStyle/>
                    <a:p>
                      <a:pPr indent="0" marL="0">
                        <a:buNone/>
                      </a:pPr>
                      <a:r>
                        <a:rPr lang="en-US" sz="1700" dirty="0">
                          <a:solidFill>
                            <a:schemeClr val="tx1"/>
                          </a:solidFill>
                        </a:rPr>
                        <a:t>Reminds you to rest</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Yes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Yes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Checks you looked away</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b="1" dirty="0">
                          <a:solidFill>
                            <a:schemeClr val="tx2"/>
                          </a:solidFill>
                        </a:rPr>
                        <a:t>Yes, with the camera</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r>
              <a:tr h="566928">
                <a:tc>
                  <a:txBody>
                    <a:bodyPr/>
                    <a:lstStyle/>
                    <a:p>
                      <a:pPr indent="0" marL="0">
                        <a:buNone/>
                      </a:pPr>
                      <a:r>
                        <a:rPr lang="en-US" sz="1700" dirty="0">
                          <a:solidFill>
                            <a:schemeClr val="tx1"/>
                          </a:solidFill>
                        </a:rPr>
                        <a:t>Measures blink rate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Yes, live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Measures screen distance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b="1" dirty="0">
                          <a:solidFill>
                            <a:schemeClr val="tx2"/>
                          </a:solidFill>
                        </a:rPr>
                        <a:t>Yes, in cm</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r>
              <a:tr h="566928">
                <a:tc>
                  <a:txBody>
                    <a:bodyPr/>
                    <a:lstStyle/>
                    <a:p>
                      <a:pPr indent="0" marL="0">
                        <a:buNone/>
                      </a:pPr>
                      <a:r>
                        <a:rPr lang="en-US" sz="1700" dirty="0">
                          <a:solidFill>
                            <a:schemeClr val="tx1"/>
                          </a:solidFill>
                        </a:rPr>
                        <a:t>Extra hardware needed</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None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None, just a webcam</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FUTURE SCOPE</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From one laptop to the whole campus</a:t>
            </a:r>
            <a:endParaRPr lang="en-US" sz="3600" dirty="0"/>
          </a:p>
        </p:txBody>
      </p:sp>
      <p:sp>
        <p:nvSpPr>
          <p:cNvPr id="4" name="future Web dashboard"/>
          <p:cNvSpPr/>
          <p:nvPr/>
        </p:nvSpPr>
        <p:spPr>
          <a:xfrm>
            <a:off x="640080" y="1920240"/>
            <a:ext cx="3456432" cy="2286000"/>
          </a:xfrm>
          <a:prstGeom prst="roundRect">
            <a:avLst>
              <a:gd name="adj" fmla="val 6000"/>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14400" y="2194560"/>
            <a:ext cx="457200" cy="457200"/>
          </a:xfrm>
          <a:prstGeom prst="rect">
            <a:avLst/>
          </a:prstGeom>
        </p:spPr>
      </p:pic>
      <p:sp>
        <p:nvSpPr>
          <p:cNvPr id="6" name="Text 3"/>
          <p:cNvSpPr txBox="1"/>
          <p:nvPr/>
        </p:nvSpPr>
        <p:spPr>
          <a:xfrm>
            <a:off x="914400"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Web dashboard</a:t>
            </a:r>
            <a:endParaRPr lang="en-US" sz="2000" dirty="0"/>
          </a:p>
        </p:txBody>
      </p:sp>
      <p:sp>
        <p:nvSpPr>
          <p:cNvPr id="7" name="Text 4"/>
          <p:cNvSpPr txBox="1"/>
          <p:nvPr/>
        </p:nvSpPr>
        <p:spPr>
          <a:xfrm>
            <a:off x="914400"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Session history, trends and tips in a Streamlit website.</a:t>
            </a:r>
            <a:endParaRPr lang="en-US" sz="1500" dirty="0"/>
          </a:p>
        </p:txBody>
      </p:sp>
      <p:sp>
        <p:nvSpPr>
          <p:cNvPr id="8" name="future Mobile and browser"/>
          <p:cNvSpPr/>
          <p:nvPr/>
        </p:nvSpPr>
        <p:spPr>
          <a:xfrm>
            <a:off x="4370832" y="1920240"/>
            <a:ext cx="3456432" cy="2286000"/>
          </a:xfrm>
          <a:prstGeom prst="roundRect">
            <a:avLst>
              <a:gd name="adj" fmla="val 6000"/>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45152" y="2194560"/>
            <a:ext cx="457200" cy="457200"/>
          </a:xfrm>
          <a:prstGeom prst="rect">
            <a:avLst/>
          </a:prstGeom>
        </p:spPr>
      </p:pic>
      <p:sp>
        <p:nvSpPr>
          <p:cNvPr id="10" name="Text 6"/>
          <p:cNvSpPr txBox="1"/>
          <p:nvPr/>
        </p:nvSpPr>
        <p:spPr>
          <a:xfrm>
            <a:off x="4645152"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Mobile and browser</a:t>
            </a:r>
            <a:endParaRPr lang="en-US" sz="2000" dirty="0"/>
          </a:p>
        </p:txBody>
      </p:sp>
      <p:sp>
        <p:nvSpPr>
          <p:cNvPr id="11" name="Text 7"/>
          <p:cNvSpPr txBox="1"/>
          <p:nvPr/>
        </p:nvSpPr>
        <p:spPr>
          <a:xfrm>
            <a:off x="4645152"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A phone app and a browser extension for online classes.</a:t>
            </a:r>
            <a:endParaRPr lang="en-US" sz="1500" dirty="0"/>
          </a:p>
        </p:txBody>
      </p:sp>
      <p:sp>
        <p:nvSpPr>
          <p:cNvPr id="12" name="future Campus insights"/>
          <p:cNvSpPr/>
          <p:nvPr/>
        </p:nvSpPr>
        <p:spPr>
          <a:xfrm>
            <a:off x="8101584" y="1920240"/>
            <a:ext cx="3456432" cy="2286000"/>
          </a:xfrm>
          <a:prstGeom prst="roundRect">
            <a:avLst>
              <a:gd name="adj" fmla="val 6000"/>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375904" y="2194560"/>
            <a:ext cx="457200" cy="457200"/>
          </a:xfrm>
          <a:prstGeom prst="rect">
            <a:avLst/>
          </a:prstGeom>
        </p:spPr>
      </p:pic>
      <p:sp>
        <p:nvSpPr>
          <p:cNvPr id="14" name="Text 9"/>
          <p:cNvSpPr txBox="1"/>
          <p:nvPr/>
        </p:nvSpPr>
        <p:spPr>
          <a:xfrm>
            <a:off x="8375904"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Campus insights</a:t>
            </a:r>
            <a:endParaRPr lang="en-US" sz="2000" dirty="0"/>
          </a:p>
        </p:txBody>
      </p:sp>
      <p:sp>
        <p:nvSpPr>
          <p:cNvPr id="15" name="Text 10"/>
          <p:cNvSpPr txBox="1"/>
          <p:nvPr/>
        </p:nvSpPr>
        <p:spPr>
          <a:xfrm>
            <a:off x="8375904"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Anonymous, opt-in data to spot exam-week strain across hostels.</a:t>
            </a:r>
            <a:endParaRPr lang="en-US" sz="1500" dirty="0"/>
          </a:p>
        </p:txBody>
      </p:sp>
      <p:sp>
        <p:nvSpPr>
          <p:cNvPr id="16" name="AI disclosure box"/>
          <p:cNvSpPr/>
          <p:nvPr/>
        </p:nvSpPr>
        <p:spPr>
          <a:xfrm>
            <a:off x="640080" y="4480560"/>
            <a:ext cx="10881360" cy="1417320"/>
          </a:xfrm>
          <a:prstGeom prst="roundRect">
            <a:avLst>
              <a:gd name="adj" fmla="val 7742"/>
            </a:avLst>
          </a:prstGeom>
          <a:solidFill>
            <a:schemeClr val="accent4"/>
          </a:solidFill>
          <a:ln/>
        </p:spPr>
      </p:sp>
      <p:sp>
        <p:nvSpPr>
          <p:cNvPr id="17" name="Text 12"/>
          <p:cNvSpPr txBox="1"/>
          <p:nvPr/>
        </p:nvSpPr>
        <p:spPr>
          <a:xfrm>
            <a:off x="960120" y="4480560"/>
            <a:ext cx="10241280" cy="1417320"/>
          </a:xfrm>
          <a:prstGeom prst="rect">
            <a:avLst/>
          </a:prstGeom>
          <a:noFill/>
          <a:ln/>
        </p:spPr>
        <p:txBody>
          <a:bodyPr wrap="square" lIns="0" tIns="0" rIns="0" bIns="0" rtlCol="0" anchor="ctr"/>
          <a:lstStyle/>
          <a:p>
            <a:pPr indent="0" marL="0">
              <a:buNone/>
            </a:pPr>
            <a:r>
              <a:rPr lang="en-US" sz="1500" b="1" dirty="0">
                <a:solidFill>
                  <a:schemeClr val="tx2"/>
                </a:solidFill>
              </a:rPr>
              <a:t>AI usage disclosure: </a:t>
            </a:r>
            <a:pPr indent="0" marL="0">
              <a:buNone/>
            </a:pPr>
            <a:r>
              <a:rPr lang="en-US" sz="1500" dirty="0">
                <a:solidFill>
                  <a:schemeClr val="tx1"/>
                </a:solidFill>
              </a:rPr>
              <a:t>we used AI assistants (Claude) to help write and debug parts of the code and documentation. The idea, feature design, testing, calibration and presentation are our team's work, and every member can explain how the code works. EyeGuard is an awareness tool, not a medical device.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188720"/>
            <a:ext cx="64008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THANK YOU</a:t>
            </a:r>
            <a:endParaRPr lang="en-US" sz="1600" dirty="0"/>
          </a:p>
        </p:txBody>
      </p:sp>
      <p:sp>
        <p:nvSpPr>
          <p:cNvPr id="3" name="Text 1"/>
          <p:cNvSpPr txBox="1"/>
          <p:nvPr/>
        </p:nvSpPr>
        <p:spPr>
          <a:xfrm>
            <a:off x="640080" y="1737360"/>
            <a:ext cx="6766560" cy="219456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Blink more. Sit back. Look away.</a:t>
            </a:r>
            <a:endParaRPr lang="en-US" sz="5400" dirty="0"/>
          </a:p>
        </p:txBody>
      </p:sp>
      <p:sp>
        <p:nvSpPr>
          <p:cNvPr id="4" name="Text 2"/>
          <p:cNvSpPr txBox="1"/>
          <p:nvPr/>
        </p:nvSpPr>
        <p:spPr>
          <a:xfrm>
            <a:off x="640080" y="4297680"/>
            <a:ext cx="6766560" cy="731520"/>
          </a:xfrm>
          <a:prstGeom prst="rect">
            <a:avLst/>
          </a:prstGeom>
          <a:noFill/>
          <a:ln/>
        </p:spPr>
        <p:txBody>
          <a:bodyPr wrap="square" lIns="0" tIns="0" rIns="0" bIns="0" rtlCol="0" anchor="t"/>
          <a:lstStyle/>
          <a:p>
            <a:pPr indent="0" marL="0">
              <a:buNone/>
            </a:pPr>
            <a:r>
              <a:rPr lang="en-US" sz="1700" dirty="0">
                <a:solidFill>
                  <a:schemeClr val="accent3"/>
                </a:solidFill>
              </a:rPr>
              <a:t>Team [Team name] · [Member 1], [Member 2], [Member 3], [Member 4]</a:t>
            </a:r>
            <a:endParaRPr lang="en-US" sz="1700" dirty="0"/>
          </a:p>
        </p:txBody>
      </p:sp>
      <p:sp>
        <p:nvSpPr>
          <p:cNvPr id="5" name="Text 3"/>
          <p:cNvSpPr txBox="1"/>
          <p:nvPr/>
        </p:nvSpPr>
        <p:spPr>
          <a:xfrm>
            <a:off x="640080" y="5120640"/>
            <a:ext cx="6400800" cy="365760"/>
          </a:xfrm>
          <a:prstGeom prst="rect">
            <a:avLst/>
          </a:prstGeom>
          <a:noFill/>
          <a:ln/>
        </p:spPr>
        <p:txBody>
          <a:bodyPr wrap="square" lIns="0" tIns="0" rIns="0" bIns="0" rtlCol="0" anchor="ctr"/>
          <a:lstStyle/>
          <a:p>
            <a:pPr indent="0" marL="0">
              <a:buNone/>
            </a:pPr>
            <a:r>
              <a:rPr lang="en-US" sz="1600" dirty="0">
                <a:solidFill>
                  <a:schemeClr val="accent3"/>
                </a:solidFill>
              </a:rPr>
              <a:t>Questions welcome</a:t>
            </a:r>
            <a:endParaRPr lang="en-US" sz="1600" dirty="0"/>
          </a:p>
        </p:txBody>
      </p:sp>
      <p:sp>
        <p:nvSpPr>
          <p:cNvPr id="6" name="QR placeholder"/>
          <p:cNvSpPr/>
          <p:nvPr/>
        </p:nvSpPr>
        <p:spPr>
          <a:xfrm>
            <a:off x="8229600" y="1463040"/>
            <a:ext cx="3291840" cy="3291840"/>
          </a:xfrm>
          <a:prstGeom prst="roundRect">
            <a:avLst>
              <a:gd name="adj" fmla="val 4167"/>
            </a:avLst>
          </a:prstGeom>
          <a:solidFill>
            <a:schemeClr val="bg2"/>
          </a:solidFill>
          <a:ln/>
        </p:spPr>
      </p:sp>
      <p:sp>
        <p:nvSpPr>
          <p:cNvPr id="7" name="Text 5"/>
          <p:cNvSpPr txBox="1"/>
          <p:nvPr/>
        </p:nvSpPr>
        <p:spPr>
          <a:xfrm>
            <a:off x="8503920" y="1463040"/>
            <a:ext cx="2743200" cy="3291840"/>
          </a:xfrm>
          <a:prstGeom prst="rect">
            <a:avLst/>
          </a:prstGeom>
          <a:noFill/>
          <a:ln/>
        </p:spPr>
        <p:txBody>
          <a:bodyPr wrap="square" lIns="0" tIns="0" rIns="0" bIns="0" rtlCol="0" anchor="ctr"/>
          <a:lstStyle/>
          <a:p>
            <a:pPr algn="ctr" indent="0" marL="0">
              <a:buNone/>
            </a:pPr>
            <a:r>
              <a:rPr lang="en-US" sz="1600" dirty="0">
                <a:solidFill>
                  <a:schemeClr val="accent5"/>
                </a:solidFill>
              </a:rPr>
              <a:t>[QR code to the EyeGuard website]</a:t>
            </a:r>
            <a:endParaRPr lang="en-US" sz="1600" dirty="0"/>
          </a:p>
        </p:txBody>
      </p:sp>
      <p:sp>
        <p:nvSpPr>
          <p:cNvPr id="8" name="Text 6"/>
          <p:cNvSpPr txBox="1"/>
          <p:nvPr/>
        </p:nvSpPr>
        <p:spPr>
          <a:xfrm>
            <a:off x="8229600" y="4937760"/>
            <a:ext cx="3291840" cy="365760"/>
          </a:xfrm>
          <a:prstGeom prst="rect">
            <a:avLst/>
          </a:prstGeom>
          <a:noFill/>
          <a:ln/>
        </p:spPr>
        <p:txBody>
          <a:bodyPr wrap="square" lIns="0" tIns="0" rIns="0" bIns="0" rtlCol="0" anchor="ctr"/>
          <a:lstStyle/>
          <a:p>
            <a:pPr algn="ctr" indent="0" marL="0">
              <a:buNone/>
            </a:pPr>
            <a:r>
              <a:rPr lang="en-US" sz="1500" dirty="0">
                <a:solidFill>
                  <a:schemeClr val="accent3"/>
                </a:solidFill>
              </a:rPr>
              <a:t>Scan to try it</a:t>
            </a:r>
            <a:endParaRPr lang="en-US" sz="1500" dirty="0"/>
          </a:p>
        </p:txBody>
      </p:sp>
    </p:spTree>
  </p:cSld>
  <p:clrMapOvr>
    <a:masterClrMapping/>
  </p:clrMapOvr>
</p:sld>
</file>

<file path=ppt/theme/theme1.xml><?xml version="1.0" encoding="utf-8"?>
<a:theme xmlns:a="http://schemas.openxmlformats.org/drawingml/2006/main" name="EyeGuard">
  <a:themeElements>
    <a:clrScheme name="EyeGuard">
      <a:dk1>
        <a:srgbClr val="1B2B2C"/>
      </a:dk1>
      <a:lt1>
        <a:srgbClr val="FFFFFF"/>
      </a:lt1>
      <a:dk2>
        <a:srgbClr val="0F3B3E"/>
      </a:dk2>
      <a:lt2>
        <a:srgbClr val="F4F8F6"/>
      </a:lt2>
      <a:accent1>
        <a:srgbClr val="F2A541"/>
      </a:accent1>
      <a:accent2>
        <a:srgbClr val="2C6E6A"/>
      </a:accent2>
      <a:accent3>
        <a:srgbClr val="BFD8D5"/>
      </a:accent3>
      <a:accent4>
        <a:srgbClr val="E3EFEC"/>
      </a:accent4>
      <a:accent5>
        <a:srgbClr val="4A5A5C"/>
      </a:accent5>
      <a:accent6>
        <a:srgbClr val="9A5418"/>
      </a:accent6>
      <a:hlink>
        <a:srgbClr val="2C6E6A"/>
      </a:hlink>
      <a:folHlink>
        <a:srgbClr val="4A5A5C"/>
      </a:folHlink>
    </a:clrScheme>
    <a:fontScheme name="Eye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EyeGuard – PySustain 2026</dc:title>
  <dc:subject>PptxGenJS Presentation</dc:subject>
  <dc:creator>PptxGenJS</dc:creator>
  <cp:lastModifiedBy>PptxGenJS</cp:lastModifiedBy>
  <cp:revision>1</cp:revision>
  <dcterms:created xsi:type="dcterms:W3CDTF">2026-10-10T20:31:18Z</dcterms:created>
  <dcterms:modified xsi:type="dcterms:W3CDTF">2026-10-10T20:31:18Z</dcterms:modified>
</cp:coreProperties>
</file>